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TT Interphases" charset="1" panose="02000503020000020004"/>
      <p:regular r:id="rId13"/>
    </p:embeddedFont>
    <p:embeddedFont>
      <p:font typeface="Cooper BT Light" charset="1" panose="0208050304030B020404"/>
      <p:regular r:id="rId14"/>
    </p:embeddedFont>
    <p:embeddedFont>
      <p:font typeface="TT Interphases Bold" charset="1" panose="02000803060000020004"/>
      <p:regular r:id="rId15"/>
    </p:embeddedFont>
    <p:embeddedFont>
      <p:font typeface="Cooper BT Medium" charset="1" panose="0208060305030B0204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28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666750"/>
            <a:ext cx="8324850" cy="3941499"/>
            <a:chOff x="0" y="0"/>
            <a:chExt cx="11099800" cy="525533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4737172"/>
              <a:ext cx="110998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19"/>
                </a:lnSpc>
              </a:pPr>
              <a:r>
                <a:rPr lang="en-US" sz="2399" spc="-47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Exploring Poetry Through Data Insights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19075"/>
              <a:ext cx="11099800" cy="40565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499"/>
                </a:lnSpc>
              </a:pPr>
              <a:r>
                <a:rPr lang="en-US" sz="11499" spc="-229">
                  <a:solidFill>
                    <a:srgbClr val="00000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윤동주 데이터 분석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8724859"/>
            <a:ext cx="8324850" cy="895391"/>
            <a:chOff x="0" y="0"/>
            <a:chExt cx="11099800" cy="1193854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659184"/>
              <a:ext cx="110998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데이터 분석가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9050"/>
              <a:ext cx="11099800" cy="5812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800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[Presenter Name]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89" r="0" b="-189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28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89" r="0" b="-189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9296400" y="3524250"/>
            <a:ext cx="8324850" cy="247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00"/>
              </a:lnSpc>
            </a:pPr>
            <a:r>
              <a:rPr lang="en-US" sz="9500" spc="-190" strike="noStrike" u="none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작품 배경 및 한자 변환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52388" y="1028700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6" y="0"/>
                </a:lnTo>
                <a:lnTo>
                  <a:pt x="1438276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73009" y="666750"/>
            <a:ext cx="9148241" cy="8953500"/>
            <a:chOff x="0" y="0"/>
            <a:chExt cx="240941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9413" cy="2358124"/>
            </a:xfrm>
            <a:custGeom>
              <a:avLst/>
              <a:gdLst/>
              <a:ahLst/>
              <a:cxnLst/>
              <a:rect r="r" b="b" t="t" l="l"/>
              <a:pathLst>
                <a:path h="2358124" w="2409413">
                  <a:moveTo>
                    <a:pt x="33851" y="0"/>
                  </a:moveTo>
                  <a:lnTo>
                    <a:pt x="2375562" y="0"/>
                  </a:lnTo>
                  <a:cubicBezTo>
                    <a:pt x="2394258" y="0"/>
                    <a:pt x="2409413" y="15156"/>
                    <a:pt x="2409413" y="33851"/>
                  </a:cubicBezTo>
                  <a:lnTo>
                    <a:pt x="2409413" y="2324272"/>
                  </a:lnTo>
                  <a:cubicBezTo>
                    <a:pt x="2409413" y="2342968"/>
                    <a:pt x="2394258" y="2358124"/>
                    <a:pt x="2375562" y="2358124"/>
                  </a:cubicBezTo>
                  <a:lnTo>
                    <a:pt x="33851" y="2358124"/>
                  </a:lnTo>
                  <a:cubicBezTo>
                    <a:pt x="24873" y="2358124"/>
                    <a:pt x="16263" y="2354557"/>
                    <a:pt x="9915" y="2348209"/>
                  </a:cubicBezTo>
                  <a:cubicBezTo>
                    <a:pt x="3566" y="2341861"/>
                    <a:pt x="0" y="2333250"/>
                    <a:pt x="0" y="2324272"/>
                  </a:cubicBezTo>
                  <a:lnTo>
                    <a:pt x="0" y="33851"/>
                  </a:lnTo>
                  <a:cubicBezTo>
                    <a:pt x="0" y="15156"/>
                    <a:pt x="15156" y="0"/>
                    <a:pt x="33851" y="0"/>
                  </a:cubicBezTo>
                  <a:close/>
                </a:path>
              </a:pathLst>
            </a:custGeom>
            <a:solidFill>
              <a:srgbClr val="6DE17B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409413" cy="2386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700808" y="6607510"/>
            <a:ext cx="3459016" cy="4461104"/>
          </a:xfrm>
          <a:custGeom>
            <a:avLst/>
            <a:gdLst/>
            <a:ahLst/>
            <a:cxnLst/>
            <a:rect r="r" b="b" t="t" l="l"/>
            <a:pathLst>
              <a:path h="4461104" w="3459016">
                <a:moveTo>
                  <a:pt x="0" y="0"/>
                </a:moveTo>
                <a:lnTo>
                  <a:pt x="3459016" y="0"/>
                </a:lnTo>
                <a:lnTo>
                  <a:pt x="3459016" y="4461105"/>
                </a:lnTo>
                <a:lnTo>
                  <a:pt x="0" y="4461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1252" y="2889370"/>
            <a:ext cx="7980257" cy="4788154"/>
          </a:xfrm>
          <a:custGeom>
            <a:avLst/>
            <a:gdLst/>
            <a:ahLst/>
            <a:cxnLst/>
            <a:rect r="r" b="b" t="t" l="l"/>
            <a:pathLst>
              <a:path h="4788154" w="7980257">
                <a:moveTo>
                  <a:pt x="0" y="0"/>
                </a:moveTo>
                <a:lnTo>
                  <a:pt x="7980257" y="0"/>
                </a:lnTo>
                <a:lnTo>
                  <a:pt x="7980257" y="4788154"/>
                </a:lnTo>
                <a:lnTo>
                  <a:pt x="0" y="47881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66750" y="666750"/>
            <a:ext cx="7532396" cy="1652269"/>
            <a:chOff x="0" y="0"/>
            <a:chExt cx="10043194" cy="2203026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684866"/>
              <a:ext cx="91821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형태소 분석 결과의 상세 설명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61925"/>
              <a:ext cx="10043194" cy="15610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  <a:r>
                <a:rPr lang="en-US" sz="8499" spc="-169" strike="noStrike" u="none">
                  <a:solidFill>
                    <a:srgbClr val="00000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주요 시어 빈도수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296400" y="1562100"/>
            <a:ext cx="6886575" cy="903605"/>
            <a:chOff x="0" y="0"/>
            <a:chExt cx="9182100" cy="1204806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38100"/>
              <a:ext cx="91821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00000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단어 1위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686646"/>
              <a:ext cx="91821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'나'는 총 5회 출현하여 핵심 주제어입니다.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296400" y="3354706"/>
            <a:ext cx="6886575" cy="903605"/>
            <a:chOff x="0" y="0"/>
            <a:chExt cx="9182100" cy="1204806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38100"/>
              <a:ext cx="91821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00000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단어 2위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686646"/>
              <a:ext cx="91821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'창밖', '밤비', '육첩방', '나라'는 각 2회 등장합니다.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296400" y="5144135"/>
            <a:ext cx="6886575" cy="903605"/>
            <a:chOff x="0" y="0"/>
            <a:chExt cx="9182100" cy="1204806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38100"/>
              <a:ext cx="91821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00000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단어 3위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686646"/>
              <a:ext cx="91821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'시인', '천명', '대학' 등은 각 1회 출현하였습니다.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296400" y="6933565"/>
            <a:ext cx="6886575" cy="903605"/>
            <a:chOff x="0" y="0"/>
            <a:chExt cx="9182100" cy="1204806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-38100"/>
              <a:ext cx="91821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00000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자아와 공간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686646"/>
              <a:ext cx="91821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자아와 억압적 공간의 수치적 대비를 보여줍니다.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3352800"/>
            <a:ext cx="8324850" cy="6267450"/>
            <a:chOff x="0" y="0"/>
            <a:chExt cx="2192553" cy="16506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2553" cy="1650686"/>
            </a:xfrm>
            <a:custGeom>
              <a:avLst/>
              <a:gdLst/>
              <a:ahLst/>
              <a:cxnLst/>
              <a:rect r="r" b="b" t="t" l="l"/>
              <a:pathLst>
                <a:path h="1650686" w="2192553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613487"/>
                  </a:lnTo>
                  <a:cubicBezTo>
                    <a:pt x="2192553" y="1623353"/>
                    <a:pt x="2188634" y="1632815"/>
                    <a:pt x="2181658" y="1639791"/>
                  </a:cubicBezTo>
                  <a:cubicBezTo>
                    <a:pt x="2174682" y="1646767"/>
                    <a:pt x="2165220" y="1650686"/>
                    <a:pt x="2155354" y="1650686"/>
                  </a:cubicBezTo>
                  <a:lnTo>
                    <a:pt x="37199" y="1650686"/>
                  </a:lnTo>
                  <a:cubicBezTo>
                    <a:pt x="27333" y="1650686"/>
                    <a:pt x="17872" y="1646767"/>
                    <a:pt x="10895" y="1639791"/>
                  </a:cubicBezTo>
                  <a:cubicBezTo>
                    <a:pt x="3919" y="1632815"/>
                    <a:pt x="0" y="1623353"/>
                    <a:pt x="0" y="1613487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032859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2553" cy="167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3352800"/>
            <a:ext cx="8324850" cy="6267450"/>
            <a:chOff x="0" y="0"/>
            <a:chExt cx="2192553" cy="16506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2553" cy="1650686"/>
            </a:xfrm>
            <a:custGeom>
              <a:avLst/>
              <a:gdLst/>
              <a:ahLst/>
              <a:cxnLst/>
              <a:rect r="r" b="b" t="t" l="l"/>
              <a:pathLst>
                <a:path h="1650686" w="2192553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613487"/>
                  </a:lnTo>
                  <a:cubicBezTo>
                    <a:pt x="2192553" y="1623353"/>
                    <a:pt x="2188634" y="1632815"/>
                    <a:pt x="2181658" y="1639791"/>
                  </a:cubicBezTo>
                  <a:cubicBezTo>
                    <a:pt x="2174682" y="1646767"/>
                    <a:pt x="2165220" y="1650686"/>
                    <a:pt x="2155354" y="1650686"/>
                  </a:cubicBezTo>
                  <a:lnTo>
                    <a:pt x="37199" y="1650686"/>
                  </a:lnTo>
                  <a:cubicBezTo>
                    <a:pt x="27333" y="1650686"/>
                    <a:pt x="17872" y="1646767"/>
                    <a:pt x="10895" y="1639791"/>
                  </a:cubicBezTo>
                  <a:cubicBezTo>
                    <a:pt x="3919" y="1632815"/>
                    <a:pt x="0" y="1623353"/>
                    <a:pt x="0" y="1613487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032859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92553" cy="167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05025" y="828675"/>
            <a:ext cx="14077950" cy="1130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99"/>
              </a:lnSpc>
              <a:spcBef>
                <a:spcPct val="0"/>
              </a:spcBef>
            </a:pPr>
            <a:r>
              <a:rPr lang="en-US" sz="8499" spc="-169" strike="noStrike" u="none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시어 '나'의 이중 자아와 화해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800225" y="4248150"/>
            <a:ext cx="5753100" cy="2036371"/>
            <a:chOff x="0" y="0"/>
            <a:chExt cx="7670800" cy="2715161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155601"/>
              <a:ext cx="7670800" cy="1559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'현실적 나'는 수동적이고 고통받는 자아를 나타내며, '이상적 나'는 희망의 등불을 밝히는 주체로 갈등을 일으킵니다.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38100"/>
              <a:ext cx="76708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FFFFFF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자아 대립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477716" y="4248150"/>
            <a:ext cx="5705259" cy="2036371"/>
            <a:chOff x="0" y="0"/>
            <a:chExt cx="7607012" cy="2715161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4934" y="1155601"/>
              <a:ext cx="7585392" cy="1559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최초의 악수를 통해 두 자아가 화해하고 통합되어, 눈물과 위안으로 상처를 치유하며 보다 나은 존재로 나아갑니다.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38100"/>
              <a:ext cx="7607012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FFFFFF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자아 통합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true" flipV="true" rot="0">
            <a:off x="16683209" y="3726256"/>
            <a:ext cx="1876083" cy="1497455"/>
          </a:xfrm>
          <a:custGeom>
            <a:avLst/>
            <a:gdLst/>
            <a:ahLst/>
            <a:cxnLst/>
            <a:rect r="r" b="b" t="t" l="l"/>
            <a:pathLst>
              <a:path h="1497455" w="1876083">
                <a:moveTo>
                  <a:pt x="1876082" y="1497455"/>
                </a:moveTo>
                <a:lnTo>
                  <a:pt x="0" y="1497455"/>
                </a:lnTo>
                <a:lnTo>
                  <a:pt x="0" y="0"/>
                </a:lnTo>
                <a:lnTo>
                  <a:pt x="1876082" y="0"/>
                </a:lnTo>
                <a:lnTo>
                  <a:pt x="1876082" y="14974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32767" y="1915868"/>
            <a:ext cx="10045358" cy="8371132"/>
          </a:xfrm>
          <a:custGeom>
            <a:avLst/>
            <a:gdLst/>
            <a:ahLst/>
            <a:cxnLst/>
            <a:rect r="r" b="b" t="t" l="l"/>
            <a:pathLst>
              <a:path h="8371132" w="10045358">
                <a:moveTo>
                  <a:pt x="0" y="0"/>
                </a:moveTo>
                <a:lnTo>
                  <a:pt x="10045358" y="0"/>
                </a:lnTo>
                <a:lnTo>
                  <a:pt x="10045358" y="8371132"/>
                </a:lnTo>
                <a:lnTo>
                  <a:pt x="0" y="83711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27917" y="828675"/>
            <a:ext cx="14055058" cy="1130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99"/>
              </a:lnSpc>
              <a:spcBef>
                <a:spcPct val="0"/>
              </a:spcBef>
            </a:pPr>
            <a:r>
              <a:rPr lang="en-US" sz="8499" spc="-169" strike="noStrike" u="none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단어 동시출현 네트워크 구조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44052"/>
            <a:ext cx="15493333" cy="1130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99"/>
              </a:lnSpc>
              <a:spcBef>
                <a:spcPct val="0"/>
              </a:spcBef>
            </a:pPr>
            <a:r>
              <a:rPr lang="en-US" sz="8499" spc="-169" strike="noStrike" u="none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단어 동시출현 네트워크 구조 분석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4248150"/>
            <a:ext cx="5448300" cy="5372100"/>
            <a:chOff x="0" y="0"/>
            <a:chExt cx="1434943" cy="14148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34943" cy="1414874"/>
            </a:xfrm>
            <a:custGeom>
              <a:avLst/>
              <a:gdLst/>
              <a:ahLst/>
              <a:cxnLst/>
              <a:rect r="r" b="b" t="t" l="l"/>
              <a:pathLst>
                <a:path h="1414874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358035"/>
                  </a:lnTo>
                  <a:cubicBezTo>
                    <a:pt x="1434943" y="1389426"/>
                    <a:pt x="1409495" y="1414874"/>
                    <a:pt x="1378104" y="1414874"/>
                  </a:cubicBezTo>
                  <a:lnTo>
                    <a:pt x="56839" y="1414874"/>
                  </a:lnTo>
                  <a:cubicBezTo>
                    <a:pt x="25448" y="1414874"/>
                    <a:pt x="0" y="1389426"/>
                    <a:pt x="0" y="1358035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032859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434943" cy="1443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19850" y="4248150"/>
            <a:ext cx="5448300" cy="5372100"/>
            <a:chOff x="0" y="0"/>
            <a:chExt cx="1434943" cy="14148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34943" cy="1414874"/>
            </a:xfrm>
            <a:custGeom>
              <a:avLst/>
              <a:gdLst/>
              <a:ahLst/>
              <a:cxnLst/>
              <a:rect r="r" b="b" t="t" l="l"/>
              <a:pathLst>
                <a:path h="1414874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358035"/>
                  </a:lnTo>
                  <a:cubicBezTo>
                    <a:pt x="1434943" y="1389426"/>
                    <a:pt x="1409495" y="1414874"/>
                    <a:pt x="1378104" y="1414874"/>
                  </a:cubicBezTo>
                  <a:lnTo>
                    <a:pt x="56839" y="1414874"/>
                  </a:lnTo>
                  <a:cubicBezTo>
                    <a:pt x="25448" y="1414874"/>
                    <a:pt x="0" y="1389426"/>
                    <a:pt x="0" y="1358035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032859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434943" cy="1443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172950" y="4248150"/>
            <a:ext cx="5448300" cy="5372100"/>
            <a:chOff x="0" y="0"/>
            <a:chExt cx="1434943" cy="14148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34943" cy="1414874"/>
            </a:xfrm>
            <a:custGeom>
              <a:avLst/>
              <a:gdLst/>
              <a:ahLst/>
              <a:cxnLst/>
              <a:rect r="r" b="b" t="t" l="l"/>
              <a:pathLst>
                <a:path h="1414874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358035"/>
                  </a:lnTo>
                  <a:cubicBezTo>
                    <a:pt x="1434943" y="1389426"/>
                    <a:pt x="1409495" y="1414874"/>
                    <a:pt x="1378104" y="1414874"/>
                  </a:cubicBezTo>
                  <a:lnTo>
                    <a:pt x="56839" y="1414874"/>
                  </a:lnTo>
                  <a:cubicBezTo>
                    <a:pt x="25448" y="1414874"/>
                    <a:pt x="0" y="1389426"/>
                    <a:pt x="0" y="1358035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032859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434943" cy="1443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892088" y="7171858"/>
            <a:ext cx="4010025" cy="156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'등불', '어둠', '아침', '나', '손', '악수'는 어둠을 쫓고 화해하는 희망을 상징하며, 자아 통합과 극복의 메시지를 담고 있습니다.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92088" y="5105400"/>
            <a:ext cx="401002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FFFFFF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희망 화해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58038" y="7171804"/>
            <a:ext cx="3971925" cy="156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'나', '침전', '무얼', '부끄러움'은 치열한 반성과 자책의 과정을 나타내며, 자아의 깊은 성찰을 표현합니다.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158038" y="5105454"/>
            <a:ext cx="397192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FFFFFF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자아 성찰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85887" y="7171858"/>
            <a:ext cx="4010025" cy="156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'창밖', '밤비', '육첩방', '나라'는 윤동주 유학 생활의 구속과 고독을 상징하며, 억압된 정서를 드러냅니다.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85887" y="5105400"/>
            <a:ext cx="401002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FFFFFF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억압 공간</a:t>
            </a:r>
          </a:p>
        </p:txBody>
      </p:sp>
      <p:sp>
        <p:nvSpPr>
          <p:cNvPr name="Freeform 18" id="18"/>
          <p:cNvSpPr/>
          <p:nvPr/>
        </p:nvSpPr>
        <p:spPr>
          <a:xfrm flipH="true" flipV="false" rot="10445243">
            <a:off x="-689073" y="5800140"/>
            <a:ext cx="1876083" cy="1497455"/>
          </a:xfrm>
          <a:custGeom>
            <a:avLst/>
            <a:gdLst/>
            <a:ahLst/>
            <a:cxnLst/>
            <a:rect r="r" b="b" t="t" l="l"/>
            <a:pathLst>
              <a:path h="1497455" w="1876083">
                <a:moveTo>
                  <a:pt x="1876083" y="0"/>
                </a:moveTo>
                <a:lnTo>
                  <a:pt x="0" y="0"/>
                </a:lnTo>
                <a:lnTo>
                  <a:pt x="0" y="1497455"/>
                </a:lnTo>
                <a:lnTo>
                  <a:pt x="1876083" y="1497455"/>
                </a:lnTo>
                <a:lnTo>
                  <a:pt x="18760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02596" y="0"/>
            <a:ext cx="8185404" cy="10287000"/>
            <a:chOff x="0" y="0"/>
            <a:chExt cx="215582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5827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55827">
                  <a:moveTo>
                    <a:pt x="0" y="0"/>
                  </a:moveTo>
                  <a:lnTo>
                    <a:pt x="2155827" y="0"/>
                  </a:lnTo>
                  <a:lnTo>
                    <a:pt x="215582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28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55827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708180" y="666750"/>
            <a:ext cx="6947741" cy="8953500"/>
            <a:chOff x="0" y="0"/>
            <a:chExt cx="812800" cy="10474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047449"/>
            </a:xfrm>
            <a:custGeom>
              <a:avLst/>
              <a:gdLst/>
              <a:ahLst/>
              <a:cxnLst/>
              <a:rect r="r" b="b" t="t" l="l"/>
              <a:pathLst>
                <a:path h="1047449" w="812800">
                  <a:moveTo>
                    <a:pt x="44572" y="0"/>
                  </a:moveTo>
                  <a:lnTo>
                    <a:pt x="768228" y="0"/>
                  </a:lnTo>
                  <a:cubicBezTo>
                    <a:pt x="792844" y="0"/>
                    <a:pt x="812800" y="19956"/>
                    <a:pt x="812800" y="44572"/>
                  </a:cubicBezTo>
                  <a:lnTo>
                    <a:pt x="812800" y="1002877"/>
                  </a:lnTo>
                  <a:cubicBezTo>
                    <a:pt x="812800" y="1027493"/>
                    <a:pt x="792844" y="1047449"/>
                    <a:pt x="768228" y="1047449"/>
                  </a:cubicBezTo>
                  <a:lnTo>
                    <a:pt x="44572" y="1047449"/>
                  </a:lnTo>
                  <a:cubicBezTo>
                    <a:pt x="19956" y="1047449"/>
                    <a:pt x="0" y="1027493"/>
                    <a:pt x="0" y="1002877"/>
                  </a:cubicBezTo>
                  <a:lnTo>
                    <a:pt x="0" y="44572"/>
                  </a:lnTo>
                  <a:cubicBezTo>
                    <a:pt x="0" y="19956"/>
                    <a:pt x="19956" y="0"/>
                    <a:pt x="4457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634" r="0" b="-634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666750" y="666750"/>
            <a:ext cx="8324850" cy="1969824"/>
            <a:chOff x="0" y="0"/>
            <a:chExt cx="11099800" cy="2626432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2108272"/>
              <a:ext cx="110998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Thank you for your attention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61925"/>
              <a:ext cx="11099800" cy="15610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  <a:r>
                <a:rPr lang="en-US" sz="8499" spc="-169" strike="noStrike" u="none">
                  <a:solidFill>
                    <a:srgbClr val="00000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Closing Remarks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66750" y="5143500"/>
            <a:ext cx="8324850" cy="895350"/>
            <a:chOff x="0" y="0"/>
            <a:chExt cx="11099800" cy="119380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38100"/>
              <a:ext cx="110998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Email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675640"/>
              <a:ext cx="110998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hello@reallygreatsite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66750" y="6934200"/>
            <a:ext cx="8324850" cy="895350"/>
            <a:chOff x="0" y="0"/>
            <a:chExt cx="11099800" cy="119380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38100"/>
              <a:ext cx="110998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Social Media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675640"/>
              <a:ext cx="110998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@reallygreatsite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66750" y="8724900"/>
            <a:ext cx="8324850" cy="895350"/>
            <a:chOff x="0" y="0"/>
            <a:chExt cx="11099800" cy="119380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38100"/>
              <a:ext cx="110998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Phone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675640"/>
              <a:ext cx="110998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123-456-7890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true" flipV="false" rot="5400000">
            <a:off x="16106389" y="8352937"/>
            <a:ext cx="1792448" cy="1639275"/>
          </a:xfrm>
          <a:custGeom>
            <a:avLst/>
            <a:gdLst/>
            <a:ahLst/>
            <a:cxnLst/>
            <a:rect r="r" b="b" t="t" l="l"/>
            <a:pathLst>
              <a:path h="1639275" w="1792448">
                <a:moveTo>
                  <a:pt x="1792448" y="0"/>
                </a:moveTo>
                <a:lnTo>
                  <a:pt x="0" y="0"/>
                </a:lnTo>
                <a:lnTo>
                  <a:pt x="0" y="1639276"/>
                </a:lnTo>
                <a:lnTo>
                  <a:pt x="1792448" y="1639276"/>
                </a:lnTo>
                <a:lnTo>
                  <a:pt x="179244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프레젠테이션 - 윤동주 데이터 분석</dc:description>
  <dc:identifier>DAHRTO3UHGI</dc:identifier>
  <dcterms:modified xsi:type="dcterms:W3CDTF">2011-08-01T06:04:30Z</dcterms:modified>
  <cp:revision>1</cp:revision>
  <dc:title>윤동주 시 분석</dc:title>
</cp:coreProperties>
</file>