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ource Han Sans KR Bold" charset="1" panose="020B0800000000000000"/>
      <p:regular r:id="rId12"/>
    </p:embeddedFont>
    <p:embeddedFont>
      <p:font typeface="Source Han Sans KR" charset="1" panose="020B0400000000000000"/>
      <p:regular r:id="rId13"/>
    </p:embeddedFont>
    <p:embeddedFont>
      <p:font typeface="Source Han Sans KR Medium" charset="1" panose="020B0600000000000000"/>
      <p:regular r:id="rId14"/>
    </p:embeddedFont>
    <p:embeddedFont>
      <p:font typeface="Aileron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6414" y="1314503"/>
            <a:ext cx="8404657" cy="127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6"/>
              </a:lnSpc>
            </a:pPr>
            <a:r>
              <a:rPr lang="en-US" sz="9606" spc="-478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2030년 대한민국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9422" y="2745282"/>
            <a:ext cx="8103935" cy="127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6"/>
              </a:lnSpc>
            </a:pPr>
            <a:r>
              <a:rPr lang="en-US" sz="9606" spc="-478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인구 변화 예측과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530" y="4266427"/>
            <a:ext cx="5693051" cy="127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6"/>
              </a:lnSpc>
            </a:pPr>
            <a:r>
              <a:rPr lang="en-US" sz="9606" spc="-478" b="true">
                <a:solidFill>
                  <a:srgbClr val="2E77F7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사회적 과제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3148" y="5957933"/>
            <a:ext cx="1760986" cy="87456"/>
          </a:xfrm>
          <a:custGeom>
            <a:avLst/>
            <a:gdLst/>
            <a:ahLst/>
            <a:cxnLst/>
            <a:rect r="r" b="b" t="t" l="l"/>
            <a:pathLst>
              <a:path h="87456" w="1760986">
                <a:moveTo>
                  <a:pt x="0" y="0"/>
                </a:moveTo>
                <a:lnTo>
                  <a:pt x="1760986" y="0"/>
                </a:lnTo>
                <a:lnTo>
                  <a:pt x="1760986" y="87456"/>
                </a:lnTo>
                <a:lnTo>
                  <a:pt x="0" y="87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1" t="-200000" r="0" b="-2000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6894" y="6468362"/>
            <a:ext cx="6035554" cy="114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2"/>
              </a:lnSpc>
            </a:pPr>
            <a:r>
              <a:rPr lang="en-US" sz="3181" spc="-158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통계청 공공데이터와 파이썬 다항 회귀</a:t>
            </a:r>
          </a:p>
          <a:p>
            <a:pPr algn="l">
              <a:lnSpc>
                <a:spcPts val="4772"/>
              </a:lnSpc>
            </a:pPr>
            <a:r>
              <a:rPr lang="en-US" sz="3181" spc="-158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머신러닝으로 분석한 미래 인구 궤적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2174" y="8149270"/>
            <a:ext cx="5507621" cy="44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핵심 인사이트 </a:t>
            </a:r>
            <a:r>
              <a:rPr lang="en-US" sz="2619" spc="-130" b="true">
                <a:solidFill>
                  <a:srgbClr val="2E77F7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2030년 인구 5천만 봉괴</a:t>
            </a: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예측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585" y="8751704"/>
            <a:ext cx="3366503" cy="44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청년 관점의 </a:t>
            </a:r>
            <a:r>
              <a:rPr lang="en-US" sz="2619" spc="-130" b="true">
                <a:solidFill>
                  <a:srgbClr val="2E77F7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대응 전략</a:t>
            </a: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619" spc="-130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제시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783053" y="0"/>
            <a:ext cx="9504947" cy="10287000"/>
            <a:chOff x="0" y="0"/>
            <a:chExt cx="11036300" cy="11950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36300" cy="11950700"/>
            </a:xfrm>
            <a:custGeom>
              <a:avLst/>
              <a:gdLst/>
              <a:ahLst/>
              <a:cxnLst/>
              <a:rect r="r" b="b" t="t" l="l"/>
              <a:pathLst>
                <a:path h="11950700" w="11036300">
                  <a:moveTo>
                    <a:pt x="11036300" y="0"/>
                  </a:moveTo>
                  <a:lnTo>
                    <a:pt x="11036300" y="11950700"/>
                  </a:lnTo>
                  <a:lnTo>
                    <a:pt x="0" y="11950700"/>
                  </a:lnTo>
                  <a:lnTo>
                    <a:pt x="2616200" y="0"/>
                  </a:lnTo>
                  <a:close/>
                </a:path>
              </a:pathLst>
            </a:custGeom>
            <a:blipFill>
              <a:blip r:embed="rId3"/>
              <a:stretch>
                <a:fillRect l="-805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750239" y="0"/>
            <a:ext cx="2329751" cy="10287000"/>
          </a:xfrm>
          <a:custGeom>
            <a:avLst/>
            <a:gdLst/>
            <a:ahLst/>
            <a:cxnLst/>
            <a:rect r="r" b="b" t="t" l="l"/>
            <a:pathLst>
              <a:path h="10287000" w="2329751">
                <a:moveTo>
                  <a:pt x="0" y="0"/>
                </a:moveTo>
                <a:lnTo>
                  <a:pt x="2329751" y="0"/>
                </a:lnTo>
                <a:lnTo>
                  <a:pt x="23297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7" t="0" r="-14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1045" y="1074862"/>
            <a:ext cx="6510314" cy="104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7935" spc="-395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데이터와 모델링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89081" y="2415969"/>
            <a:ext cx="1596919" cy="98388"/>
          </a:xfrm>
          <a:custGeom>
            <a:avLst/>
            <a:gdLst/>
            <a:ahLst/>
            <a:cxnLst/>
            <a:rect r="r" b="b" t="t" l="l"/>
            <a:pathLst>
              <a:path h="98388" w="1596919">
                <a:moveTo>
                  <a:pt x="0" y="0"/>
                </a:moveTo>
                <a:lnTo>
                  <a:pt x="1596919" y="0"/>
                </a:lnTo>
                <a:lnTo>
                  <a:pt x="1596919" y="98388"/>
                </a:lnTo>
                <a:lnTo>
                  <a:pt x="0" y="983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39" t="-66666" r="-6849" b="-6666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6381" y="2872858"/>
            <a:ext cx="8334523" cy="115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sz="3410" spc="-169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단순 직관을 넘어, 객관적 수치로 미래를 추론하는 </a:t>
            </a:r>
          </a:p>
          <a:p>
            <a:pPr algn="l">
              <a:lnSpc>
                <a:spcPts val="4774"/>
              </a:lnSpc>
            </a:pPr>
            <a:r>
              <a:rPr lang="en-US" sz="3410" spc="-169" b="true">
                <a:solidFill>
                  <a:srgbClr val="3084F2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과학적</a:t>
            </a:r>
            <a:r>
              <a:rPr lang="en-US" sz="3410" spc="-169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접근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8144" y="4525843"/>
            <a:ext cx="1290660" cy="1541410"/>
          </a:xfrm>
          <a:custGeom>
            <a:avLst/>
            <a:gdLst/>
            <a:ahLst/>
            <a:cxnLst/>
            <a:rect r="r" b="b" t="t" l="l"/>
            <a:pathLst>
              <a:path h="1541410" w="1290660">
                <a:moveTo>
                  <a:pt x="0" y="0"/>
                </a:moveTo>
                <a:lnTo>
                  <a:pt x="1290660" y="0"/>
                </a:lnTo>
                <a:lnTo>
                  <a:pt x="1290660" y="1541410"/>
                </a:lnTo>
                <a:lnTo>
                  <a:pt x="0" y="154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42" t="-2127" r="0" b="-992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46928" y="4525843"/>
            <a:ext cx="7536144" cy="1530478"/>
          </a:xfrm>
          <a:custGeom>
            <a:avLst/>
            <a:gdLst/>
            <a:ahLst/>
            <a:cxnLst/>
            <a:rect r="r" b="b" t="t" l="l"/>
            <a:pathLst>
              <a:path h="1530478" w="7536144">
                <a:moveTo>
                  <a:pt x="0" y="0"/>
                </a:moveTo>
                <a:lnTo>
                  <a:pt x="7536144" y="0"/>
                </a:lnTo>
                <a:lnTo>
                  <a:pt x="7536144" y="1530478"/>
                </a:lnTo>
                <a:lnTo>
                  <a:pt x="0" y="1530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57" t="-2142" r="-1306" b="-107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9325" y="4882400"/>
            <a:ext cx="544851" cy="64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9"/>
              </a:lnSpc>
            </a:pPr>
            <a:r>
              <a:rPr lang="en-US" sz="3619" spc="-18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4453" y="4776012"/>
            <a:ext cx="5261732" cy="9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통계청 KOSIS 행정구역별 주민등록인구 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2011.01 ~ 2026.06, 총 186개월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8144" y="6198437"/>
            <a:ext cx="1290660" cy="1519546"/>
          </a:xfrm>
          <a:custGeom>
            <a:avLst/>
            <a:gdLst/>
            <a:ahLst/>
            <a:cxnLst/>
            <a:rect r="r" b="b" t="t" l="l"/>
            <a:pathLst>
              <a:path h="1519546" w="1290660">
                <a:moveTo>
                  <a:pt x="0" y="0"/>
                </a:moveTo>
                <a:lnTo>
                  <a:pt x="1290660" y="0"/>
                </a:lnTo>
                <a:lnTo>
                  <a:pt x="129066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42" t="-13669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35990" y="6198437"/>
            <a:ext cx="7284574" cy="1519546"/>
          </a:xfrm>
          <a:custGeom>
            <a:avLst/>
            <a:gdLst/>
            <a:ahLst/>
            <a:cxnLst/>
            <a:rect r="r" b="b" t="t" l="l"/>
            <a:pathLst>
              <a:path h="1519546" w="7284574">
                <a:moveTo>
                  <a:pt x="0" y="0"/>
                </a:moveTo>
                <a:lnTo>
                  <a:pt x="7284575" y="0"/>
                </a:lnTo>
                <a:lnTo>
                  <a:pt x="7284575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02" t="-13669" r="-195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2536" y="6569214"/>
            <a:ext cx="544851" cy="64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9"/>
              </a:lnSpc>
            </a:pPr>
            <a:r>
              <a:rPr lang="en-US" sz="3619" spc="-18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8893" y="6432334"/>
            <a:ext cx="5817765" cy="90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상승 후 하강하는 인구 변곡점을 포착하기 위해 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2차 다항 회귀(Polynomial Regression) 적용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8144" y="7871031"/>
            <a:ext cx="1290660" cy="1530478"/>
          </a:xfrm>
          <a:custGeom>
            <a:avLst/>
            <a:gdLst/>
            <a:ahLst/>
            <a:cxnLst/>
            <a:rect r="r" b="b" t="t" l="l"/>
            <a:pathLst>
              <a:path h="1530478" w="1290660">
                <a:moveTo>
                  <a:pt x="0" y="0"/>
                </a:moveTo>
                <a:lnTo>
                  <a:pt x="1290660" y="0"/>
                </a:lnTo>
                <a:lnTo>
                  <a:pt x="1290660" y="1530478"/>
                </a:lnTo>
                <a:lnTo>
                  <a:pt x="0" y="1530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542" t="-10714" r="0" b="-214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935990" y="7871031"/>
            <a:ext cx="7022067" cy="1530478"/>
          </a:xfrm>
          <a:custGeom>
            <a:avLst/>
            <a:gdLst/>
            <a:ahLst/>
            <a:cxnLst/>
            <a:rect r="r" b="b" t="t" l="l"/>
            <a:pathLst>
              <a:path h="1530478" w="7022067">
                <a:moveTo>
                  <a:pt x="0" y="0"/>
                </a:moveTo>
                <a:lnTo>
                  <a:pt x="7022067" y="0"/>
                </a:lnTo>
                <a:lnTo>
                  <a:pt x="7022067" y="1530478"/>
                </a:lnTo>
                <a:lnTo>
                  <a:pt x="0" y="15304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03" t="-10714" r="-2647" b="-214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21448" y="8119519"/>
            <a:ext cx="5562207" cy="9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모델 설명력 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남성 인구 </a:t>
            </a:r>
            <a:r>
              <a:rPr lang="en-US" sz="2619" spc="-130" b="true">
                <a:solidFill>
                  <a:srgbClr val="3084F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R² 0.9525</a:t>
            </a: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여성 인구 </a:t>
            </a:r>
            <a:r>
              <a:rPr lang="en-US" sz="2619" spc="-130" b="true">
                <a:solidFill>
                  <a:srgbClr val="3084F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R² 0.9605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2536" y="8240968"/>
            <a:ext cx="544851" cy="64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9"/>
              </a:lnSpc>
            </a:pPr>
            <a:r>
              <a:rPr lang="en-US" sz="3619" spc="-18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144" y="2055214"/>
            <a:ext cx="1596919" cy="87456"/>
          </a:xfrm>
          <a:custGeom>
            <a:avLst/>
            <a:gdLst/>
            <a:ahLst/>
            <a:cxnLst/>
            <a:rect r="r" b="b" t="t" l="l"/>
            <a:pathLst>
              <a:path h="87456" w="1596919">
                <a:moveTo>
                  <a:pt x="0" y="0"/>
                </a:moveTo>
                <a:lnTo>
                  <a:pt x="1596918" y="0"/>
                </a:lnTo>
                <a:lnTo>
                  <a:pt x="1596918" y="87456"/>
                </a:lnTo>
                <a:lnTo>
                  <a:pt x="0" y="87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54" t="-150000" r="-7534" b="-1250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8144" y="3902719"/>
            <a:ext cx="8104909" cy="601259"/>
          </a:xfrm>
          <a:custGeom>
            <a:avLst/>
            <a:gdLst/>
            <a:ahLst/>
            <a:cxnLst/>
            <a:rect r="r" b="b" t="t" l="l"/>
            <a:pathLst>
              <a:path h="601259" w="8104909">
                <a:moveTo>
                  <a:pt x="0" y="0"/>
                </a:moveTo>
                <a:lnTo>
                  <a:pt x="8104909" y="0"/>
                </a:lnTo>
                <a:lnTo>
                  <a:pt x="8104909" y="601260"/>
                </a:lnTo>
                <a:lnTo>
                  <a:pt x="0" y="601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4" t="-9090" r="-188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8144" y="4482115"/>
            <a:ext cx="8104909" cy="1683526"/>
          </a:xfrm>
          <a:custGeom>
            <a:avLst/>
            <a:gdLst/>
            <a:ahLst/>
            <a:cxnLst/>
            <a:rect r="r" b="b" t="t" l="l"/>
            <a:pathLst>
              <a:path h="1683526" w="8104909">
                <a:moveTo>
                  <a:pt x="0" y="0"/>
                </a:moveTo>
                <a:lnTo>
                  <a:pt x="8104909" y="0"/>
                </a:lnTo>
                <a:lnTo>
                  <a:pt x="8104909" y="1683526"/>
                </a:lnTo>
                <a:lnTo>
                  <a:pt x="0" y="1683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4" t="-11688" r="-1889" b="-324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9081" y="6231233"/>
            <a:ext cx="3992297" cy="1388362"/>
          </a:xfrm>
          <a:custGeom>
            <a:avLst/>
            <a:gdLst/>
            <a:ahLst/>
            <a:cxnLst/>
            <a:rect r="r" b="b" t="t" l="l"/>
            <a:pathLst>
              <a:path h="1388362" w="3992297">
                <a:moveTo>
                  <a:pt x="0" y="0"/>
                </a:moveTo>
                <a:lnTo>
                  <a:pt x="3992297" y="0"/>
                </a:lnTo>
                <a:lnTo>
                  <a:pt x="3992297" y="1388362"/>
                </a:lnTo>
                <a:lnTo>
                  <a:pt x="0" y="1388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95" t="-1574" r="-2739" b="-708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1923" y="7125644"/>
            <a:ext cx="2140205" cy="50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b="true" sz="2619" spc="-130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약 2,465만 명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57943" y="6231233"/>
            <a:ext cx="4014172" cy="1388362"/>
          </a:xfrm>
          <a:custGeom>
            <a:avLst/>
            <a:gdLst/>
            <a:ahLst/>
            <a:cxnLst/>
            <a:rect r="r" b="b" t="t" l="l"/>
            <a:pathLst>
              <a:path h="1388362" w="4014172">
                <a:moveTo>
                  <a:pt x="0" y="0"/>
                </a:moveTo>
                <a:lnTo>
                  <a:pt x="4014172" y="0"/>
                </a:lnTo>
                <a:lnTo>
                  <a:pt x="4014172" y="1388362"/>
                </a:lnTo>
                <a:lnTo>
                  <a:pt x="0" y="1388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632" t="-1574" r="-4087" b="-708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25691" y="7115656"/>
            <a:ext cx="2102967" cy="50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b="true" sz="2619" spc="-130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약 2,497만 명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8144" y="7586799"/>
            <a:ext cx="8104909" cy="776171"/>
          </a:xfrm>
          <a:custGeom>
            <a:avLst/>
            <a:gdLst/>
            <a:ahLst/>
            <a:cxnLst/>
            <a:rect r="r" b="b" t="t" l="l"/>
            <a:pathLst>
              <a:path h="776171" w="8104909">
                <a:moveTo>
                  <a:pt x="0" y="0"/>
                </a:moveTo>
                <a:lnTo>
                  <a:pt x="8104909" y="0"/>
                </a:lnTo>
                <a:lnTo>
                  <a:pt x="8104909" y="776171"/>
                </a:lnTo>
                <a:lnTo>
                  <a:pt x="0" y="776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4" t="-11267" r="-188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9081" y="9128209"/>
            <a:ext cx="8083033" cy="65592"/>
          </a:xfrm>
          <a:custGeom>
            <a:avLst/>
            <a:gdLst/>
            <a:ahLst/>
            <a:cxnLst/>
            <a:rect r="r" b="b" t="t" l="l"/>
            <a:pathLst>
              <a:path h="65592" w="8083033">
                <a:moveTo>
                  <a:pt x="0" y="0"/>
                </a:moveTo>
                <a:lnTo>
                  <a:pt x="8083034" y="0"/>
                </a:lnTo>
                <a:lnTo>
                  <a:pt x="8083034" y="65592"/>
                </a:lnTo>
                <a:lnTo>
                  <a:pt x="0" y="655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41" t="-200000" r="-2029" b="-3333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8163" y="9029821"/>
            <a:ext cx="284383" cy="273300"/>
          </a:xfrm>
          <a:custGeom>
            <a:avLst/>
            <a:gdLst/>
            <a:ahLst/>
            <a:cxnLst/>
            <a:rect r="r" b="b" t="t" l="l"/>
            <a:pathLst>
              <a:path h="273300" w="284383">
                <a:moveTo>
                  <a:pt x="0" y="0"/>
                </a:moveTo>
                <a:lnTo>
                  <a:pt x="284382" y="0"/>
                </a:lnTo>
                <a:lnTo>
                  <a:pt x="284382" y="273300"/>
                </a:lnTo>
                <a:lnTo>
                  <a:pt x="0" y="273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923" t="-12000" r="-30769" b="-4800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56344" y="9018889"/>
            <a:ext cx="262507" cy="284232"/>
          </a:xfrm>
          <a:custGeom>
            <a:avLst/>
            <a:gdLst/>
            <a:ahLst/>
            <a:cxnLst/>
            <a:rect r="r" b="b" t="t" l="l"/>
            <a:pathLst>
              <a:path h="284232" w="262507">
                <a:moveTo>
                  <a:pt x="0" y="0"/>
                </a:moveTo>
                <a:lnTo>
                  <a:pt x="262508" y="0"/>
                </a:lnTo>
                <a:lnTo>
                  <a:pt x="262508" y="284232"/>
                </a:lnTo>
                <a:lnTo>
                  <a:pt x="0" y="2842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4999" t="-7692" r="-79166" b="-4615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31407" y="9029821"/>
            <a:ext cx="284383" cy="262368"/>
          </a:xfrm>
          <a:custGeom>
            <a:avLst/>
            <a:gdLst/>
            <a:ahLst/>
            <a:cxnLst/>
            <a:rect r="r" b="b" t="t" l="l"/>
            <a:pathLst>
              <a:path h="262368" w="284383">
                <a:moveTo>
                  <a:pt x="0" y="0"/>
                </a:moveTo>
                <a:lnTo>
                  <a:pt x="284382" y="0"/>
                </a:lnTo>
                <a:lnTo>
                  <a:pt x="284382" y="262368"/>
                </a:lnTo>
                <a:lnTo>
                  <a:pt x="0" y="2623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6923" t="-12500" r="-30769" b="-5416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62718" y="9018889"/>
            <a:ext cx="295321" cy="284232"/>
          </a:xfrm>
          <a:custGeom>
            <a:avLst/>
            <a:gdLst/>
            <a:ahLst/>
            <a:cxnLst/>
            <a:rect r="r" b="b" t="t" l="l"/>
            <a:pathLst>
              <a:path h="284232" w="295321">
                <a:moveTo>
                  <a:pt x="0" y="0"/>
                </a:moveTo>
                <a:lnTo>
                  <a:pt x="295320" y="0"/>
                </a:lnTo>
                <a:lnTo>
                  <a:pt x="295320" y="284232"/>
                </a:lnTo>
                <a:lnTo>
                  <a:pt x="0" y="2842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44444" t="-7692" r="-7407" b="-4615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342078" y="2163926"/>
            <a:ext cx="8164469" cy="5075578"/>
          </a:xfrm>
          <a:custGeom>
            <a:avLst/>
            <a:gdLst/>
            <a:ahLst/>
            <a:cxnLst/>
            <a:rect r="r" b="b" t="t" l="l"/>
            <a:pathLst>
              <a:path h="5075578" w="8164469">
                <a:moveTo>
                  <a:pt x="0" y="0"/>
                </a:moveTo>
                <a:lnTo>
                  <a:pt x="8164469" y="0"/>
                </a:lnTo>
                <a:lnTo>
                  <a:pt x="8164469" y="5075578"/>
                </a:lnTo>
                <a:lnTo>
                  <a:pt x="0" y="50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07140" y="771766"/>
            <a:ext cx="3579729" cy="97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7935" spc="-395" b="true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분석 결과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3886" y="2375449"/>
            <a:ext cx="7262931" cy="64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3880" spc="-193" b="true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2030년, 인구 </a:t>
            </a:r>
            <a:r>
              <a:rPr lang="en-US" sz="3880" spc="-193" b="true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5천만</a:t>
            </a:r>
            <a:r>
              <a:rPr lang="en-US" sz="3880" spc="-193" b="true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명선이 무너진다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2029" y="3104370"/>
            <a:ext cx="6448654" cy="43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머신러닝이 예측한 2030년 1월 대한민국 인구 지표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42733" y="4701715"/>
            <a:ext cx="3472335" cy="69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약 4,963만 명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26669" y="5514105"/>
            <a:ext cx="5504463" cy="43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역대 정점 5,185만 명 대비 악 221만 명 감소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18908" y="7667805"/>
            <a:ext cx="3519986" cy="50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여성이 악 </a:t>
            </a:r>
            <a:r>
              <a:rPr lang="en-US" b="true" sz="2619" spc="-130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32만 명</a:t>
            </a:r>
            <a:r>
              <a:rPr lang="en-US" sz="2619" spc="-130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많음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195" y="8429645"/>
            <a:ext cx="1071562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2011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53953" y="8429645"/>
            <a:ext cx="1071562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2015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1023" y="8429645"/>
            <a:ext cx="1071562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2019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00938" y="8429645"/>
            <a:ext cx="1178719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1D80F2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2030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7140" y="3902719"/>
            <a:ext cx="8164975" cy="56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b="true" sz="3746" spc="-111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2030년 1월 예상 총인구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516" y="9389291"/>
            <a:ext cx="2037159" cy="4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746" spc="-81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남초 구조 시작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36344" y="9389291"/>
            <a:ext cx="2037159" cy="4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746" spc="-81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역대 정점 도달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59273" y="9389291"/>
            <a:ext cx="2037159" cy="4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746" spc="-81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여초 구조 역전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00938" y="9389291"/>
            <a:ext cx="1510010" cy="40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746" spc="-81">
                <a:solidFill>
                  <a:srgbClr val="FFFFFF">
                    <a:alpha val="8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5천만 붕괴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1195" y="6437366"/>
            <a:ext cx="3348633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남성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36344" y="6437366"/>
            <a:ext cx="3348633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b="true" sz="4646" spc="-138">
                <a:solidFill>
                  <a:srgbClr val="FFFFFF">
                    <a:alpha val="89804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여성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791" y="743487"/>
            <a:ext cx="3714663" cy="100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7935" spc="-395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현상 분석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8144" y="2011486"/>
            <a:ext cx="1596919" cy="87456"/>
          </a:xfrm>
          <a:custGeom>
            <a:avLst/>
            <a:gdLst/>
            <a:ahLst/>
            <a:cxnLst/>
            <a:rect r="r" b="b" t="t" l="l"/>
            <a:pathLst>
              <a:path h="87456" w="1596919">
                <a:moveTo>
                  <a:pt x="0" y="0"/>
                </a:moveTo>
                <a:lnTo>
                  <a:pt x="1596918" y="0"/>
                </a:lnTo>
                <a:lnTo>
                  <a:pt x="1596918" y="87456"/>
                </a:lnTo>
                <a:lnTo>
                  <a:pt x="0" y="87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54" t="-100000" r="-7534" b="-625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9438" y="2479553"/>
            <a:ext cx="6028871" cy="4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202" spc="-128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왜 인구는 줄고 성비는 역전되었는가?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441" y="2939040"/>
            <a:ext cx="8728563" cy="46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초고령화의 생물학적 격차와 청년 세대의 구조적 현실이 만든 결과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0957" y="4230679"/>
            <a:ext cx="240632" cy="4110427"/>
          </a:xfrm>
          <a:custGeom>
            <a:avLst/>
            <a:gdLst/>
            <a:ahLst/>
            <a:cxnLst/>
            <a:rect r="r" b="b" t="t" l="l"/>
            <a:pathLst>
              <a:path h="4110427" w="240632">
                <a:moveTo>
                  <a:pt x="0" y="0"/>
                </a:moveTo>
                <a:lnTo>
                  <a:pt x="240632" y="0"/>
                </a:lnTo>
                <a:lnTo>
                  <a:pt x="240632" y="4110427"/>
                </a:lnTo>
                <a:lnTo>
                  <a:pt x="0" y="4110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272" t="-3989" r="-59090" b="-5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8144" y="4241611"/>
            <a:ext cx="382823" cy="349824"/>
          </a:xfrm>
          <a:custGeom>
            <a:avLst/>
            <a:gdLst/>
            <a:ahLst/>
            <a:cxnLst/>
            <a:rect r="r" b="b" t="t" l="l"/>
            <a:pathLst>
              <a:path h="349824" w="382823">
                <a:moveTo>
                  <a:pt x="0" y="0"/>
                </a:moveTo>
                <a:lnTo>
                  <a:pt x="382823" y="0"/>
                </a:lnTo>
                <a:lnTo>
                  <a:pt x="382823" y="349824"/>
                </a:lnTo>
                <a:lnTo>
                  <a:pt x="0" y="349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71" t="-50000" r="-8571" b="-3749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5665" y="3771536"/>
            <a:ext cx="8520545" cy="2066146"/>
          </a:xfrm>
          <a:custGeom>
            <a:avLst/>
            <a:gdLst/>
            <a:ahLst/>
            <a:cxnLst/>
            <a:rect r="r" b="b" t="t" l="l"/>
            <a:pathLst>
              <a:path h="2066146" w="8520545">
                <a:moveTo>
                  <a:pt x="0" y="0"/>
                </a:moveTo>
                <a:lnTo>
                  <a:pt x="8520546" y="0"/>
                </a:lnTo>
                <a:lnTo>
                  <a:pt x="8520546" y="2066145"/>
                </a:lnTo>
                <a:lnTo>
                  <a:pt x="0" y="20661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25" t="-6349" r="-385" b="-79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40705" y="4091063"/>
            <a:ext cx="2737313" cy="4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202" spc="-128" b="true">
                <a:solidFill>
                  <a:srgbClr val="267EEA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여초 현상 고착화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78144" y="6406145"/>
            <a:ext cx="382823" cy="371688"/>
          </a:xfrm>
          <a:custGeom>
            <a:avLst/>
            <a:gdLst/>
            <a:ahLst/>
            <a:cxnLst/>
            <a:rect r="r" b="b" t="t" l="l"/>
            <a:pathLst>
              <a:path h="371688" w="382823">
                <a:moveTo>
                  <a:pt x="0" y="0"/>
                </a:moveTo>
                <a:lnTo>
                  <a:pt x="382823" y="0"/>
                </a:lnTo>
                <a:lnTo>
                  <a:pt x="382823" y="371687"/>
                </a:lnTo>
                <a:lnTo>
                  <a:pt x="0" y="3716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571" t="-52941" r="-8571" b="-2352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65665" y="6023525"/>
            <a:ext cx="8520545" cy="1585138"/>
          </a:xfrm>
          <a:custGeom>
            <a:avLst/>
            <a:gdLst/>
            <a:ahLst/>
            <a:cxnLst/>
            <a:rect r="r" b="b" t="t" l="l"/>
            <a:pathLst>
              <a:path h="1585138" w="8520545">
                <a:moveTo>
                  <a:pt x="0" y="0"/>
                </a:moveTo>
                <a:lnTo>
                  <a:pt x="8520546" y="0"/>
                </a:lnTo>
                <a:lnTo>
                  <a:pt x="8520546" y="1585138"/>
                </a:lnTo>
                <a:lnTo>
                  <a:pt x="0" y="1585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25" t="-2068" r="-385" b="-689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4392" y="6365250"/>
            <a:ext cx="2368646" cy="4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202" spc="-128" b="true">
                <a:solidFill>
                  <a:srgbClr val="267EEA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자연 성비 회복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8144" y="8177126"/>
            <a:ext cx="382823" cy="382620"/>
          </a:xfrm>
          <a:custGeom>
            <a:avLst/>
            <a:gdLst/>
            <a:ahLst/>
            <a:cxnLst/>
            <a:rect r="r" b="b" t="t" l="l"/>
            <a:pathLst>
              <a:path h="382620" w="382823">
                <a:moveTo>
                  <a:pt x="0" y="0"/>
                </a:moveTo>
                <a:lnTo>
                  <a:pt x="382823" y="0"/>
                </a:lnTo>
                <a:lnTo>
                  <a:pt x="382823" y="382620"/>
                </a:lnTo>
                <a:lnTo>
                  <a:pt x="0" y="3826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571" t="-11428" r="-8571" b="-571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5665" y="7805439"/>
            <a:ext cx="8520545" cy="2098942"/>
          </a:xfrm>
          <a:custGeom>
            <a:avLst/>
            <a:gdLst/>
            <a:ahLst/>
            <a:cxnLst/>
            <a:rect r="r" b="b" t="t" l="l"/>
            <a:pathLst>
              <a:path h="2098942" w="8520545">
                <a:moveTo>
                  <a:pt x="0" y="0"/>
                </a:moveTo>
                <a:lnTo>
                  <a:pt x="8520546" y="0"/>
                </a:lnTo>
                <a:lnTo>
                  <a:pt x="8520546" y="2098941"/>
                </a:lnTo>
                <a:lnTo>
                  <a:pt x="0" y="20989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25" t="-4687" r="-385" b="-833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17614" y="8127368"/>
            <a:ext cx="5046443" cy="4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3202" spc="-128" b="true">
                <a:solidFill>
                  <a:srgbClr val="267EEA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인구 데드크로스(2019년 이후)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90409" y="9189048"/>
            <a:ext cx="7766909" cy="42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청년층의 높은 주거비·고용 불안·양육비 부담이 출산 기피로 직결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4215" y="5122827"/>
            <a:ext cx="7386292" cy="42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여성의 긴 기대수명(남성 대비 약 6년)과 고령층 여성 비중 압도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5639" y="6900006"/>
            <a:ext cx="5243933" cy="42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과거 남아선호사상 퇴조 및 성평등 인식 확산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6138" y="4610758"/>
            <a:ext cx="3194053" cy="42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2015년 6월 사상 최초 역전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9023" y="8662124"/>
            <a:ext cx="1905557" cy="42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사망자 &gt; 출생아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2408" y="818881"/>
            <a:ext cx="3805324" cy="11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3"/>
              </a:lnSpc>
            </a:pPr>
            <a:r>
              <a:rPr lang="en-US" sz="8353" spc="-416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다가오는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1138" y="2107281"/>
            <a:ext cx="4932307" cy="137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2"/>
              </a:lnSpc>
            </a:pPr>
            <a:r>
              <a:rPr lang="en-US" sz="10302" spc="-513" b="true">
                <a:solidFill>
                  <a:srgbClr val="2B7C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복합 위기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3148" y="3673148"/>
            <a:ext cx="1312536" cy="76524"/>
          </a:xfrm>
          <a:custGeom>
            <a:avLst/>
            <a:gdLst/>
            <a:ahLst/>
            <a:cxnLst/>
            <a:rect r="r" b="b" t="t" l="l"/>
            <a:pathLst>
              <a:path h="76524" w="1312536">
                <a:moveTo>
                  <a:pt x="0" y="0"/>
                </a:moveTo>
                <a:lnTo>
                  <a:pt x="1312536" y="0"/>
                </a:lnTo>
                <a:lnTo>
                  <a:pt x="1312536" y="76524"/>
                </a:lnTo>
                <a:lnTo>
                  <a:pt x="0" y="76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33" t="-42857" r="-1666" b="-14285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1896" y="3976088"/>
            <a:ext cx="5856464" cy="109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306" spc="-164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인구 구조 변화가 경제·사회 전반의 </a:t>
            </a:r>
          </a:p>
          <a:p>
            <a:pPr algn="l">
              <a:lnSpc>
                <a:spcPts val="4462"/>
              </a:lnSpc>
            </a:pPr>
            <a:r>
              <a:rPr lang="en-US" sz="3306" spc="-164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지속가능성을 위협합니다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53148" y="5487858"/>
            <a:ext cx="9078373" cy="1289974"/>
          </a:xfrm>
          <a:custGeom>
            <a:avLst/>
            <a:gdLst/>
            <a:ahLst/>
            <a:cxnLst/>
            <a:rect r="r" b="b" t="t" l="l"/>
            <a:pathLst>
              <a:path h="1289974" w="9078373">
                <a:moveTo>
                  <a:pt x="0" y="0"/>
                </a:moveTo>
                <a:lnTo>
                  <a:pt x="9078374" y="0"/>
                </a:lnTo>
                <a:lnTo>
                  <a:pt x="90783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89" t="-10169" r="-963" b="-677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2211" y="5476926"/>
            <a:ext cx="207818" cy="1311838"/>
          </a:xfrm>
          <a:custGeom>
            <a:avLst/>
            <a:gdLst/>
            <a:ahLst/>
            <a:cxnLst/>
            <a:rect r="r" b="b" t="t" l="l"/>
            <a:pathLst>
              <a:path h="1311838" w="207818">
                <a:moveTo>
                  <a:pt x="0" y="0"/>
                </a:moveTo>
                <a:lnTo>
                  <a:pt x="207818" y="0"/>
                </a:lnTo>
                <a:lnTo>
                  <a:pt x="207818" y="1311838"/>
                </a:lnTo>
                <a:lnTo>
                  <a:pt x="0" y="1311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4736" t="-9166" r="-21052" b="-58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83132" y="5604358"/>
            <a:ext cx="6347776" cy="9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일할 사람은 줄고, 돌봄이 필요한 </a:t>
            </a:r>
            <a:r>
              <a:rPr lang="en-US" sz="2619" spc="-130" b="true">
                <a:solidFill>
                  <a:srgbClr val="2B7C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고령층은 급증해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국민연금·건강보험 재정 부담이 가중됩니다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3148" y="6898084"/>
            <a:ext cx="9078373" cy="1300906"/>
          </a:xfrm>
          <a:custGeom>
            <a:avLst/>
            <a:gdLst/>
            <a:ahLst/>
            <a:cxnLst/>
            <a:rect r="r" b="b" t="t" l="l"/>
            <a:pathLst>
              <a:path h="1300906" w="9078373">
                <a:moveTo>
                  <a:pt x="0" y="0"/>
                </a:moveTo>
                <a:lnTo>
                  <a:pt x="9078374" y="0"/>
                </a:lnTo>
                <a:lnTo>
                  <a:pt x="90783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89" t="-3361" r="-963" b="-1260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2211" y="6898084"/>
            <a:ext cx="207818" cy="1311838"/>
          </a:xfrm>
          <a:custGeom>
            <a:avLst/>
            <a:gdLst/>
            <a:ahLst/>
            <a:cxnLst/>
            <a:rect r="r" b="b" t="t" l="l"/>
            <a:pathLst>
              <a:path h="1311838" w="207818">
                <a:moveTo>
                  <a:pt x="0" y="0"/>
                </a:moveTo>
                <a:lnTo>
                  <a:pt x="207818" y="0"/>
                </a:lnTo>
                <a:lnTo>
                  <a:pt x="207818" y="1311838"/>
                </a:lnTo>
                <a:lnTo>
                  <a:pt x="0" y="13118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4736" t="-3333" r="-21052" b="-1166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2765" y="7035138"/>
            <a:ext cx="6384442" cy="9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청년 인구의 </a:t>
            </a:r>
            <a:r>
              <a:rPr lang="en-US" sz="2619" spc="-130" b="true">
                <a:solidFill>
                  <a:srgbClr val="2B7C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수도권 쏠림</a:t>
            </a: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으로 비수도권의 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학교 폐교와 필수 의료·인프라 붕괴가 심화됩니다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53148" y="8319242"/>
            <a:ext cx="9078373" cy="1300906"/>
          </a:xfrm>
          <a:custGeom>
            <a:avLst/>
            <a:gdLst/>
            <a:ahLst/>
            <a:cxnLst/>
            <a:rect r="r" b="b" t="t" l="l"/>
            <a:pathLst>
              <a:path h="1300906" w="9078373">
                <a:moveTo>
                  <a:pt x="0" y="0"/>
                </a:moveTo>
                <a:lnTo>
                  <a:pt x="9078374" y="0"/>
                </a:lnTo>
                <a:lnTo>
                  <a:pt x="90783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89" t="-14285" r="-963" b="-25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2211" y="8319242"/>
            <a:ext cx="207818" cy="1300906"/>
          </a:xfrm>
          <a:custGeom>
            <a:avLst/>
            <a:gdLst/>
            <a:ahLst/>
            <a:cxnLst/>
            <a:rect r="r" b="b" t="t" l="l"/>
            <a:pathLst>
              <a:path h="1300906" w="207818">
                <a:moveTo>
                  <a:pt x="0" y="0"/>
                </a:moveTo>
                <a:lnTo>
                  <a:pt x="207818" y="0"/>
                </a:lnTo>
                <a:lnTo>
                  <a:pt x="2078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4736" t="-14285" r="-21052" b="-252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6680" y="8435797"/>
            <a:ext cx="5992977" cy="94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내수 기반이 약화되며 </a:t>
            </a:r>
            <a:r>
              <a:rPr lang="en-US" sz="2619" spc="-130" b="true">
                <a:solidFill>
                  <a:srgbClr val="2B7C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잠재성장률이 하락</a:t>
            </a: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하고, </a:t>
            </a:r>
          </a:p>
          <a:p>
            <a:pPr algn="l">
              <a:lnSpc>
                <a:spcPts val="3928"/>
              </a:lnSpc>
            </a:pP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병역 자원 감소로 </a:t>
            </a:r>
            <a:r>
              <a:rPr lang="en-US" sz="2619" spc="-130" b="true">
                <a:solidFill>
                  <a:srgbClr val="2B7CE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안보 부담</a:t>
            </a:r>
            <a:r>
              <a:rPr lang="en-US" sz="2619" spc="-13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 커집니다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048" y="1084422"/>
            <a:ext cx="4867844" cy="108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3"/>
              </a:lnSpc>
            </a:pPr>
            <a:r>
              <a:rPr lang="en-US" sz="8213" spc="-409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우리의 대응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78144" y="2426901"/>
            <a:ext cx="1596919" cy="98388"/>
          </a:xfrm>
          <a:custGeom>
            <a:avLst/>
            <a:gdLst/>
            <a:ahLst/>
            <a:cxnLst/>
            <a:rect r="r" b="b" t="t" l="l"/>
            <a:pathLst>
              <a:path h="98388" w="1596919">
                <a:moveTo>
                  <a:pt x="0" y="0"/>
                </a:moveTo>
                <a:lnTo>
                  <a:pt x="1596918" y="0"/>
                </a:lnTo>
                <a:lnTo>
                  <a:pt x="1596918" y="98388"/>
                </a:lnTo>
                <a:lnTo>
                  <a:pt x="0" y="98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54" t="-77777" r="-7534" b="-5555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5772" y="2853760"/>
            <a:ext cx="7395420" cy="123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3462" spc="-207">
                <a:solidFill>
                  <a:srgbClr val="F6F6F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정해진 미래를 바꾸는 </a:t>
            </a:r>
            <a:r>
              <a:rPr lang="en-US" sz="3462" spc="-207" b="true">
                <a:solidFill>
                  <a:srgbClr val="1C7B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4대 전략</a:t>
            </a:r>
          </a:p>
          <a:p>
            <a:pPr algn="l">
              <a:lnSpc>
                <a:spcPts val="5194"/>
              </a:lnSpc>
            </a:pPr>
            <a:r>
              <a:rPr lang="en-US" sz="3462" spc="-207">
                <a:solidFill>
                  <a:srgbClr val="F6F6F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청년의 삶과 사회 구조를 바꾸는 실질적 대안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711687"/>
            <a:ext cx="2964144" cy="4722618"/>
          </a:xfrm>
          <a:custGeom>
            <a:avLst/>
            <a:gdLst/>
            <a:ahLst/>
            <a:cxnLst/>
            <a:rect r="r" b="b" t="t" l="l"/>
            <a:pathLst>
              <a:path h="4722618" w="2964144">
                <a:moveTo>
                  <a:pt x="0" y="0"/>
                </a:moveTo>
                <a:lnTo>
                  <a:pt x="2964144" y="0"/>
                </a:lnTo>
                <a:lnTo>
                  <a:pt x="296414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32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7833" y="5193994"/>
            <a:ext cx="657373" cy="62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spc="-234" b="true">
                <a:solidFill>
                  <a:srgbClr val="1C7B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1645" y="6020718"/>
            <a:ext cx="2276143" cy="102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3005" spc="-180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청년</a:t>
            </a:r>
          </a:p>
          <a:p>
            <a:pPr algn="l">
              <a:lnSpc>
                <a:spcPts val="4209"/>
              </a:lnSpc>
            </a:pPr>
            <a:r>
              <a:rPr lang="en-US" sz="3005" spc="-180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주거·노동 혁신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4406" y="7451822"/>
            <a:ext cx="2277070" cy="85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안정된 삶과 일의</a:t>
            </a:r>
          </a:p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기반을 구축합니다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521971" y="6198437"/>
            <a:ext cx="295321" cy="1377430"/>
          </a:xfrm>
          <a:custGeom>
            <a:avLst/>
            <a:gdLst/>
            <a:ahLst/>
            <a:cxnLst/>
            <a:rect r="r" b="b" t="t" l="l"/>
            <a:pathLst>
              <a:path h="1377430" w="295321">
                <a:moveTo>
                  <a:pt x="0" y="0"/>
                </a:moveTo>
                <a:lnTo>
                  <a:pt x="295321" y="0"/>
                </a:lnTo>
                <a:lnTo>
                  <a:pt x="295321" y="1377430"/>
                </a:lnTo>
                <a:lnTo>
                  <a:pt x="0" y="13774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814" t="-15079" r="-37037" b="-1031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86038" y="4711687"/>
            <a:ext cx="2975081" cy="4722618"/>
          </a:xfrm>
          <a:custGeom>
            <a:avLst/>
            <a:gdLst/>
            <a:ahLst/>
            <a:cxnLst/>
            <a:rect r="r" b="b" t="t" l="l"/>
            <a:pathLst>
              <a:path h="4722618" w="2975081">
                <a:moveTo>
                  <a:pt x="0" y="0"/>
                </a:moveTo>
                <a:lnTo>
                  <a:pt x="2975082" y="0"/>
                </a:lnTo>
                <a:lnTo>
                  <a:pt x="297508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85" t="0" r="-330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11786" y="5193994"/>
            <a:ext cx="657373" cy="62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spc="-234" b="true">
                <a:solidFill>
                  <a:srgbClr val="1C7B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95594" y="6039688"/>
            <a:ext cx="2276489" cy="107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199" spc="-192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다극형</a:t>
            </a:r>
          </a:p>
          <a:p>
            <a:pPr algn="l">
              <a:lnSpc>
                <a:spcPts val="4480"/>
              </a:lnSpc>
            </a:pPr>
            <a:r>
              <a:rPr lang="en-US" sz="3199" spc="-192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국토 균형 발전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18359" y="7451822"/>
            <a:ext cx="2277070" cy="85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지역이 성장하고</a:t>
            </a:r>
          </a:p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기회가 확산됩니다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73617" y="6198437"/>
            <a:ext cx="284383" cy="1377430"/>
          </a:xfrm>
          <a:custGeom>
            <a:avLst/>
            <a:gdLst/>
            <a:ahLst/>
            <a:cxnLst/>
            <a:rect r="r" b="b" t="t" l="l"/>
            <a:pathLst>
              <a:path h="1377430" w="284383">
                <a:moveTo>
                  <a:pt x="0" y="0"/>
                </a:moveTo>
                <a:lnTo>
                  <a:pt x="284383" y="0"/>
                </a:lnTo>
                <a:lnTo>
                  <a:pt x="284383" y="1377430"/>
                </a:lnTo>
                <a:lnTo>
                  <a:pt x="0" y="1377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384" t="-15079" r="-38461" b="-1031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726746" y="4711687"/>
            <a:ext cx="2920392" cy="4722618"/>
          </a:xfrm>
          <a:custGeom>
            <a:avLst/>
            <a:gdLst/>
            <a:ahLst/>
            <a:cxnLst/>
            <a:rect r="r" b="b" t="t" l="l"/>
            <a:pathLst>
              <a:path h="4722618" w="2920392">
                <a:moveTo>
                  <a:pt x="0" y="0"/>
                </a:moveTo>
                <a:lnTo>
                  <a:pt x="2920393" y="0"/>
                </a:lnTo>
                <a:lnTo>
                  <a:pt x="2920393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741" t="0" r="-524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65739" y="5193994"/>
            <a:ext cx="657373" cy="62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spc="-234" b="true">
                <a:solidFill>
                  <a:srgbClr val="1C7B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54408" y="6029797"/>
            <a:ext cx="1790458" cy="10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4" spc="-191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초고령사회</a:t>
            </a:r>
          </a:p>
          <a:p>
            <a:pPr algn="l">
              <a:lnSpc>
                <a:spcPts val="4459"/>
              </a:lnSpc>
            </a:pPr>
            <a:r>
              <a:rPr lang="en-US" sz="3184" spc="-191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계속고용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72312" y="7462141"/>
            <a:ext cx="2277070" cy="130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세대가 함께 일하고 지속 가능한 미래를 만들어갑니다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581512" y="6198437"/>
            <a:ext cx="295321" cy="1377430"/>
          </a:xfrm>
          <a:custGeom>
            <a:avLst/>
            <a:gdLst/>
            <a:ahLst/>
            <a:cxnLst/>
            <a:rect r="r" b="b" t="t" l="l"/>
            <a:pathLst>
              <a:path h="1377430" w="295321">
                <a:moveTo>
                  <a:pt x="0" y="0"/>
                </a:moveTo>
                <a:lnTo>
                  <a:pt x="295321" y="0"/>
                </a:lnTo>
                <a:lnTo>
                  <a:pt x="295321" y="1377430"/>
                </a:lnTo>
                <a:lnTo>
                  <a:pt x="0" y="13774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703" t="-15079" r="-48148" b="-10317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45579" y="4788210"/>
            <a:ext cx="2887579" cy="4646095"/>
          </a:xfrm>
          <a:custGeom>
            <a:avLst/>
            <a:gdLst/>
            <a:ahLst/>
            <a:cxnLst/>
            <a:rect r="r" b="b" t="t" l="l"/>
            <a:pathLst>
              <a:path h="4646095" w="2887579">
                <a:moveTo>
                  <a:pt x="0" y="0"/>
                </a:moveTo>
                <a:lnTo>
                  <a:pt x="2887579" y="0"/>
                </a:lnTo>
                <a:lnTo>
                  <a:pt x="2887579" y="4646095"/>
                </a:lnTo>
                <a:lnTo>
                  <a:pt x="0" y="4646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060" t="-1647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092903" y="5193994"/>
            <a:ext cx="657373" cy="62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spc="-234" b="true">
                <a:solidFill>
                  <a:srgbClr val="1C7B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11247" y="6029797"/>
            <a:ext cx="1501883" cy="108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4" spc="-191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포용적</a:t>
            </a:r>
          </a:p>
          <a:p>
            <a:pPr algn="l">
              <a:lnSpc>
                <a:spcPts val="4459"/>
              </a:lnSpc>
            </a:pPr>
            <a:r>
              <a:rPr lang="en-US" sz="3184" spc="-191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이민 통합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26266" y="7462141"/>
            <a:ext cx="2277070" cy="130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다양성이 힘이 되는 공존 사회를</a:t>
            </a:r>
          </a:p>
          <a:p>
            <a:pPr algn="l">
              <a:lnSpc>
                <a:spcPts val="3599"/>
              </a:lnSpc>
            </a:pPr>
            <a:r>
              <a:rPr lang="en-US" sz="2250" spc="-135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구현합니다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DAHZWNuehIg</dc:identifier>
  <dcterms:modified xsi:type="dcterms:W3CDTF">2011-08-01T06:04:30Z</dcterms:modified>
  <cp:revision>1</cp:revision>
  <dc:title>2030 인구 변화 분석</dc:title>
</cp:coreProperties>
</file>