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1.png" ContentType="image/png"/>
  <Override PartName="/ppt/media/image2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5963B5-0644-403B-A9A9-B06E196BC7B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3BA26B-25FB-4304-8B4C-717D15E15EE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87F804-A614-444F-8D08-43DFBB4A503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6B7D3-07A5-424F-AD90-4867FAFE64D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A715EE-6BBD-4EE5-BB9B-7EBE3BF09C5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30D76-B958-4568-8301-A6E3ED8F34E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0F6FF7-8EB8-49B6-BFB6-F87850F8B7A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7BF58C-15E1-49DD-B5B8-30D0453773B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5952D6-C233-4E9F-9EC6-6CDD5718904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제목 텍스트의 서식을 편집하려면 클릭하십시오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개요 텍스트의 서식을 편집하려면 클릭하십시오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ko-K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b="0" lang="ko-K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b="0" lang="ko-K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b="0" lang="ko-K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b="0" lang="ko-K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b="0" lang="ko-K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E00693-2A98-4C24-BB62-41C21884DD7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개요 텍스트의 서식을 편집하려면 클릭하십시오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ko-K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r>
              <a:rPr b="0" lang="ko-K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b="0" lang="ko-K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r>
              <a:rPr b="0" lang="ko-K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r>
              <a:rPr b="0" lang="ko-K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r>
              <a:rPr b="0" lang="ko-K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번째 개요 수준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&lt;날짜/시간&gt;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 CJK KR"/>
              </a:rPr>
              <a:t>&lt;바닥글&gt;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8DB1E7-0C86-4B71-9791-84F277030AD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0" name="Freeform 3"/>
          <p:cNvSpPr/>
          <p:nvPr/>
        </p:nvSpPr>
        <p:spPr>
          <a:xfrm>
            <a:off x="8706600" y="426240"/>
            <a:ext cx="9581040" cy="9860400"/>
          </a:xfrm>
          <a:custGeom>
            <a:avLst/>
            <a:gdLst>
              <a:gd name="textAreaLeft" fmla="*/ 0 w 9581040"/>
              <a:gd name="textAreaRight" fmla="*/ 9581400 w 9581040"/>
              <a:gd name="textAreaTop" fmla="*/ 0 h 9860400"/>
              <a:gd name="textAreaBottom" fmla="*/ 9860760 h 9860400"/>
            </a:gdLst>
            <a:ahLst/>
            <a:cxnLst/>
            <a:rect l="textAreaLeft" t="textAreaTop" r="textAreaRight" b="textAreaBottom"/>
            <a:pathLst>
              <a:path w="9581512" h="9860652">
                <a:moveTo>
                  <a:pt x="0" y="0"/>
                </a:moveTo>
                <a:lnTo>
                  <a:pt x="9581512" y="0"/>
                </a:lnTo>
                <a:lnTo>
                  <a:pt x="9581512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1" name="TextBox 4"/>
          <p:cNvSpPr/>
          <p:nvPr/>
        </p:nvSpPr>
        <p:spPr>
          <a:xfrm>
            <a:off x="993960" y="2010600"/>
            <a:ext cx="10346040" cy="13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369"/>
              </a:lnSpc>
            </a:pPr>
            <a:r>
              <a:rPr b="1" lang="ko-KR" sz="10370" strike="noStrike" u="none">
                <a:solidFill>
                  <a:srgbClr val="ffffff"/>
                </a:solidFill>
                <a:effectLst/>
                <a:uFillTx/>
                <a:latin typeface="Source Han Sans KR Heavy"/>
                <a:ea typeface="Source Han Sans KR Heavy"/>
              </a:rPr>
              <a:t>데이터로 읽는</a:t>
            </a:r>
            <a:endParaRPr b="0" lang="en-US" sz="1037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2" name="TextBox 5"/>
          <p:cNvSpPr/>
          <p:nvPr/>
        </p:nvSpPr>
        <p:spPr>
          <a:xfrm>
            <a:off x="991080" y="3576600"/>
            <a:ext cx="9808920" cy="13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369"/>
              </a:lnSpc>
            </a:pPr>
            <a:r>
              <a:rPr b="1" lang="ko-KR" sz="10370" strike="noStrike" u="none">
                <a:solidFill>
                  <a:srgbClr val="96d0f3"/>
                </a:solidFill>
                <a:effectLst/>
                <a:uFillTx/>
                <a:latin typeface="Source Han Sans KR Heavy"/>
                <a:ea typeface="Source Han Sans KR Heavy"/>
              </a:rPr>
              <a:t>영문 시사 뉴스</a:t>
            </a:r>
            <a:endParaRPr b="0" lang="en-US" sz="1037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3" name="Freeform 6"/>
          <p:cNvSpPr/>
          <p:nvPr/>
        </p:nvSpPr>
        <p:spPr>
          <a:xfrm>
            <a:off x="1082880" y="5137920"/>
            <a:ext cx="7917120" cy="229320"/>
          </a:xfrm>
          <a:custGeom>
            <a:avLst/>
            <a:gdLst>
              <a:gd name="textAreaLeft" fmla="*/ 0 w 7917120"/>
              <a:gd name="textAreaRight" fmla="*/ 7917480 w 7917120"/>
              <a:gd name="textAreaTop" fmla="*/ 0 h 229320"/>
              <a:gd name="textAreaBottom" fmla="*/ 229680 h 229320"/>
            </a:gdLst>
            <a:ahLst/>
            <a:cxnLst/>
            <a:rect l="textAreaLeft" t="textAreaTop" r="textAreaRight" b="textAreaBottom"/>
            <a:pathLst>
              <a:path w="1312536" h="229572">
                <a:moveTo>
                  <a:pt x="0" y="0"/>
                </a:moveTo>
                <a:lnTo>
                  <a:pt x="1312536" y="0"/>
                </a:lnTo>
                <a:lnTo>
                  <a:pt x="131253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4" name="TextBox 7"/>
          <p:cNvSpPr/>
          <p:nvPr/>
        </p:nvSpPr>
        <p:spPr>
          <a:xfrm>
            <a:off x="1032120" y="5934600"/>
            <a:ext cx="662148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05"/>
              </a:lnSpc>
            </a:pPr>
            <a:r>
              <a:rPr b="0" lang="ko-KR" sz="330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핵심 </a:t>
            </a:r>
            <a:r>
              <a:rPr b="1" lang="ko-KR" sz="3309" strike="noStrike" u="none">
                <a:solidFill>
                  <a:srgbClr val="68b2dd"/>
                </a:solidFill>
                <a:effectLst/>
                <a:uFillTx/>
                <a:latin typeface="Source Han Sans KR Bold"/>
                <a:ea typeface="Source Han Sans KR Bold"/>
              </a:rPr>
              <a:t>어휘 빈도</a:t>
            </a:r>
            <a:r>
              <a:rPr b="0" lang="en-US" sz="330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 및 </a:t>
            </a:r>
            <a:r>
              <a:rPr b="1" lang="ko-KR" sz="3309" strike="noStrike" u="none">
                <a:solidFill>
                  <a:srgbClr val="68b2dd"/>
                </a:solidFill>
                <a:effectLst/>
                <a:uFillTx/>
                <a:latin typeface="Source Han Sans KR Bold"/>
                <a:ea typeface="Source Han Sans KR Bold"/>
              </a:rPr>
              <a:t>단어 네트워크</a:t>
            </a:r>
            <a:r>
              <a:rPr b="0" lang="en-US" sz="330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 분석</a:t>
            </a:r>
            <a:endParaRPr b="0" lang="en-US" sz="3309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5" name="TextBox 8"/>
          <p:cNvSpPr/>
          <p:nvPr/>
        </p:nvSpPr>
        <p:spPr>
          <a:xfrm>
            <a:off x="1048680" y="7054200"/>
            <a:ext cx="49626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486"/>
              </a:lnSpc>
            </a:pPr>
            <a:r>
              <a:rPr b="0" lang="ko-KR" sz="2490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영문 시사 뉴스 속 핵심 어휘의 빈도와</a:t>
            </a:r>
            <a:endParaRPr b="0" lang="en-US" sz="249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6" name="TextBox 9"/>
          <p:cNvSpPr/>
          <p:nvPr/>
        </p:nvSpPr>
        <p:spPr>
          <a:xfrm>
            <a:off x="1035000" y="7611480"/>
            <a:ext cx="63284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486"/>
              </a:lnSpc>
            </a:pPr>
            <a:r>
              <a:rPr b="0" lang="ko-KR" sz="2490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문맥적 단어 연결</a:t>
            </a:r>
            <a:r>
              <a:rPr b="0" lang="en-US" sz="2490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(</a:t>
            </a:r>
            <a:r>
              <a:rPr b="0" lang="ko-KR" sz="2490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연어</a:t>
            </a:r>
            <a:r>
              <a:rPr b="0" lang="en-US" sz="2490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)</a:t>
            </a:r>
            <a:r>
              <a:rPr b="0" lang="ko-KR" sz="2490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을 데이터로 탐구합니다</a:t>
            </a:r>
            <a:r>
              <a:rPr b="0" lang="en-US" sz="2490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.</a:t>
            </a:r>
            <a:endParaRPr b="0" lang="en-US" sz="249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8" name="Freeform 3"/>
          <p:cNvSpPr/>
          <p:nvPr/>
        </p:nvSpPr>
        <p:spPr>
          <a:xfrm>
            <a:off x="9570600" y="0"/>
            <a:ext cx="8717040" cy="10286640"/>
          </a:xfrm>
          <a:custGeom>
            <a:avLst/>
            <a:gdLst>
              <a:gd name="textAreaLeft" fmla="*/ 0 w 8717040"/>
              <a:gd name="textAreaRight" fmla="*/ 8717400 w 87170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8717426" h="10287000">
                <a:moveTo>
                  <a:pt x="0" y="0"/>
                </a:moveTo>
                <a:lnTo>
                  <a:pt x="8717426" y="0"/>
                </a:lnTo>
                <a:lnTo>
                  <a:pt x="87174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1007280" y="717120"/>
            <a:ext cx="1066680" cy="12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357"/>
              </a:lnSpc>
            </a:pPr>
            <a:r>
              <a:rPr b="1" lang="en-US" sz="9350" spc="-187" strike="noStrike" u="none">
                <a:solidFill>
                  <a:srgbClr val="80c5e8">
                    <a:alpha val="95000"/>
                  </a:srgbClr>
                </a:solidFill>
                <a:effectLst/>
                <a:uFillTx/>
                <a:latin typeface="Source Han Sans KR Bold"/>
                <a:ea typeface="Source Han Sans KR Bold"/>
              </a:rPr>
              <a:t>1.</a:t>
            </a:r>
            <a:endParaRPr b="0" lang="en-US" sz="935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957960" y="2268360"/>
            <a:ext cx="7322040" cy="11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357"/>
              </a:lnSpc>
            </a:pPr>
            <a:r>
              <a:rPr b="1" lang="ko-KR" sz="9350" spc="-187" strike="noStrike" u="none">
                <a:solidFill>
                  <a:srgbClr val="ffffff">
                    <a:alpha val="95000"/>
                  </a:srgbClr>
                </a:solidFill>
                <a:effectLst/>
                <a:uFillTx/>
                <a:latin typeface="Source Han Sans KR Bold"/>
                <a:ea typeface="Source Han Sans KR Bold"/>
              </a:rPr>
              <a:t>탐구 동기 및</a:t>
            </a:r>
            <a:endParaRPr b="0" lang="en-US" sz="935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1" name="TextBox 6"/>
          <p:cNvSpPr/>
          <p:nvPr/>
        </p:nvSpPr>
        <p:spPr>
          <a:xfrm>
            <a:off x="971640" y="3578760"/>
            <a:ext cx="6228360" cy="11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357"/>
              </a:lnSpc>
            </a:pPr>
            <a:r>
              <a:rPr b="1" lang="ko-KR" sz="9350" spc="-187" strike="noStrike" u="none">
                <a:solidFill>
                  <a:srgbClr val="80c5e8">
                    <a:alpha val="95000"/>
                  </a:srgbClr>
                </a:solidFill>
                <a:effectLst/>
                <a:uFillTx/>
                <a:latin typeface="Source Han Sans KR Bold"/>
                <a:ea typeface="Source Han Sans KR Bold"/>
              </a:rPr>
              <a:t>분석 목표</a:t>
            </a:r>
            <a:endParaRPr b="0" lang="en-US" sz="935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2" name="Freeform 7"/>
          <p:cNvSpPr/>
          <p:nvPr/>
        </p:nvSpPr>
        <p:spPr>
          <a:xfrm>
            <a:off x="864000" y="5137920"/>
            <a:ext cx="1531080" cy="229320"/>
          </a:xfrm>
          <a:custGeom>
            <a:avLst/>
            <a:gdLst>
              <a:gd name="textAreaLeft" fmla="*/ 0 w 1531080"/>
              <a:gd name="textAreaRight" fmla="*/ 1531440 w 1531080"/>
              <a:gd name="textAreaTop" fmla="*/ 0 h 229320"/>
              <a:gd name="textAreaBottom" fmla="*/ 229680 h 229320"/>
            </a:gdLst>
            <a:ahLst/>
            <a:cxnLst/>
            <a:rect l="textAreaLeft" t="textAreaTop" r="textAreaRight" b="textAreaBottom"/>
            <a:pathLst>
              <a:path w="1531292" h="229572">
                <a:moveTo>
                  <a:pt x="0" y="0"/>
                </a:moveTo>
                <a:lnTo>
                  <a:pt x="1531292" y="0"/>
                </a:lnTo>
                <a:lnTo>
                  <a:pt x="153129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984600" y="5729040"/>
            <a:ext cx="5315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22"/>
              </a:lnSpc>
            </a:pPr>
            <a:r>
              <a:rPr b="0" lang="ko-KR" sz="2620" spc="-51" strike="noStrike" u="none">
                <a:solidFill>
                  <a:srgbClr val="ffffff">
                    <a:alpha val="95000"/>
                  </a:srgbClr>
                </a:solidFill>
                <a:effectLst/>
                <a:uFillTx/>
                <a:latin typeface="Source Han Sans KR"/>
                <a:ea typeface="Source Han Sans KR"/>
              </a:rPr>
              <a:t>어려운 시사 어휘 때문에</a:t>
            </a:r>
            <a:endParaRPr b="0" lang="en-US" sz="262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4" name="TextBox 9"/>
          <p:cNvSpPr/>
          <p:nvPr/>
        </p:nvSpPr>
        <p:spPr>
          <a:xfrm>
            <a:off x="960840" y="6210720"/>
            <a:ext cx="67791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22"/>
              </a:lnSpc>
            </a:pPr>
            <a:r>
              <a:rPr b="0" lang="ko-KR" sz="2620" spc="-51" strike="noStrike" u="none">
                <a:solidFill>
                  <a:srgbClr val="ffffff">
                    <a:alpha val="95000"/>
                  </a:srgbClr>
                </a:solidFill>
                <a:effectLst/>
                <a:uFillTx/>
                <a:latin typeface="Source Han Sans KR"/>
                <a:ea typeface="Source Han Sans KR"/>
              </a:rPr>
              <a:t>기사 전체의 맥락을 놓치던 독해 습관 극복</a:t>
            </a:r>
            <a:endParaRPr b="0" lang="en-US" sz="262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987840" y="6686640"/>
            <a:ext cx="49521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22"/>
              </a:lnSpc>
            </a:pPr>
            <a:r>
              <a:rPr b="0" lang="ko-KR" sz="2620" spc="-51" strike="noStrike" u="none">
                <a:solidFill>
                  <a:srgbClr val="ffffff">
                    <a:alpha val="95000"/>
                  </a:srgbClr>
                </a:solidFill>
                <a:effectLst/>
                <a:uFillTx/>
                <a:latin typeface="Source Han Sans KR"/>
                <a:ea typeface="Source Han Sans KR"/>
              </a:rPr>
              <a:t>단어 단순 암기를 넘어</a:t>
            </a:r>
            <a:endParaRPr b="0" lang="en-US" sz="262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6" name="TextBox 11"/>
          <p:cNvSpPr/>
          <p:nvPr/>
        </p:nvSpPr>
        <p:spPr>
          <a:xfrm>
            <a:off x="946440" y="7223760"/>
            <a:ext cx="715464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22"/>
              </a:lnSpc>
            </a:pPr>
            <a:r>
              <a:rPr b="0" lang="ko-KR" sz="2620" spc="-51" strike="noStrike" u="none">
                <a:solidFill>
                  <a:srgbClr val="ffffff">
                    <a:alpha val="95000"/>
                  </a:srgbClr>
                </a:solidFill>
                <a:effectLst/>
                <a:uFillTx/>
                <a:latin typeface="Source Han Sans KR"/>
                <a:ea typeface="Source Han Sans KR"/>
              </a:rPr>
              <a:t>함께 짝을 이루는 단어</a:t>
            </a:r>
            <a:r>
              <a:rPr b="0" lang="en-US" sz="2620" spc="-51" strike="noStrike" u="none">
                <a:solidFill>
                  <a:srgbClr val="ffffff">
                    <a:alpha val="95000"/>
                  </a:srgbClr>
                </a:solidFill>
                <a:effectLst/>
                <a:uFillTx/>
                <a:latin typeface="Source Han Sans KR"/>
                <a:ea typeface="Source Han Sans KR"/>
              </a:rPr>
              <a:t>(</a:t>
            </a:r>
            <a:r>
              <a:rPr b="0" lang="ko-KR" sz="2620" spc="-51" strike="noStrike" u="none">
                <a:solidFill>
                  <a:srgbClr val="ffffff">
                    <a:alpha val="95000"/>
                  </a:srgbClr>
                </a:solidFill>
                <a:effectLst/>
                <a:uFillTx/>
                <a:latin typeface="Source Han Sans KR"/>
                <a:ea typeface="Source Han Sans KR"/>
              </a:rPr>
              <a:t>연어</a:t>
            </a:r>
            <a:r>
              <a:rPr b="0" lang="en-US" sz="2620" spc="-51" strike="noStrike" u="none">
                <a:solidFill>
                  <a:srgbClr val="ffffff">
                    <a:alpha val="95000"/>
                  </a:srgbClr>
                </a:solidFill>
                <a:effectLst/>
                <a:uFillTx/>
                <a:latin typeface="Source Han Sans KR"/>
                <a:ea typeface="Source Han Sans KR"/>
              </a:rPr>
              <a:t>, Collocation) </a:t>
            </a:r>
            <a:r>
              <a:rPr b="0" lang="ko-KR" sz="2620" spc="-51" strike="noStrike" u="none">
                <a:solidFill>
                  <a:srgbClr val="ffffff">
                    <a:alpha val="95000"/>
                  </a:srgbClr>
                </a:solidFill>
                <a:effectLst/>
                <a:uFillTx/>
                <a:latin typeface="Source Han Sans KR"/>
                <a:ea typeface="Source Han Sans KR"/>
              </a:rPr>
              <a:t>관계 규명</a:t>
            </a:r>
            <a:endParaRPr b="0" lang="en-US" sz="262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7" name="TextBox 12"/>
          <p:cNvSpPr/>
          <p:nvPr/>
        </p:nvSpPr>
        <p:spPr>
          <a:xfrm>
            <a:off x="975600" y="7740000"/>
            <a:ext cx="6044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22"/>
              </a:lnSpc>
            </a:pPr>
            <a:r>
              <a:rPr b="0" lang="ko-KR" sz="2620" spc="-51" strike="noStrike" u="none">
                <a:solidFill>
                  <a:srgbClr val="ffffff">
                    <a:alpha val="95000"/>
                  </a:srgbClr>
                </a:solidFill>
                <a:effectLst/>
                <a:uFillTx/>
                <a:latin typeface="Source Han Sans KR"/>
                <a:ea typeface="Source Han Sans KR"/>
              </a:rPr>
              <a:t>실제 최신 국제 뉴스  </a:t>
            </a:r>
            <a:r>
              <a:rPr b="0" lang="en-US" sz="2620" spc="-51" strike="noStrike" u="none">
                <a:solidFill>
                  <a:srgbClr val="ffffff">
                    <a:alpha val="95000"/>
                  </a:srgbClr>
                </a:solidFill>
                <a:effectLst/>
                <a:uFillTx/>
                <a:latin typeface="Source Han Sans KR"/>
                <a:ea typeface="Source Han Sans KR"/>
              </a:rPr>
              <a:t>5</a:t>
            </a:r>
            <a:r>
              <a:rPr b="0" lang="ko-KR" sz="2620" spc="-51" strike="noStrike" u="none">
                <a:solidFill>
                  <a:srgbClr val="ffffff">
                    <a:alpha val="95000"/>
                  </a:srgbClr>
                </a:solidFill>
                <a:effectLst/>
                <a:uFillTx/>
                <a:latin typeface="Source Han Sans KR"/>
                <a:ea typeface="Source Han Sans KR"/>
              </a:rPr>
              <a:t>편을 대상으로</a:t>
            </a:r>
            <a:endParaRPr b="0" lang="en-US" sz="262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8" name="TextBox 13"/>
          <p:cNvSpPr/>
          <p:nvPr/>
        </p:nvSpPr>
        <p:spPr>
          <a:xfrm>
            <a:off x="1080000" y="8280000"/>
            <a:ext cx="4093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22"/>
              </a:lnSpc>
            </a:pPr>
            <a:r>
              <a:rPr b="0" lang="ko-KR" sz="2620" spc="-51" strike="noStrike" u="none">
                <a:solidFill>
                  <a:srgbClr val="ffffff">
                    <a:alpha val="95000"/>
                  </a:srgbClr>
                </a:solidFill>
                <a:effectLst/>
                <a:uFillTx/>
                <a:latin typeface="Source Han Sans KR"/>
                <a:ea typeface="Source Han Sans KR"/>
              </a:rPr>
              <a:t>어휘 데이터 분석 수행</a:t>
            </a:r>
            <a:endParaRPr b="0" lang="en-US" sz="262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0" name="Freeform 3"/>
          <p:cNvSpPr/>
          <p:nvPr/>
        </p:nvSpPr>
        <p:spPr>
          <a:xfrm>
            <a:off x="11966040" y="852840"/>
            <a:ext cx="6321600" cy="9433800"/>
          </a:xfrm>
          <a:custGeom>
            <a:avLst/>
            <a:gdLst>
              <a:gd name="textAreaLeft" fmla="*/ 0 w 6321600"/>
              <a:gd name="textAreaRight" fmla="*/ 6321960 w 6321600"/>
              <a:gd name="textAreaTop" fmla="*/ 0 h 9433800"/>
              <a:gd name="textAreaBottom" fmla="*/ 9434160 h 9433800"/>
            </a:gdLst>
            <a:ahLst/>
            <a:cxnLst/>
            <a:rect l="textAreaLeft" t="textAreaTop" r="textAreaRight" b="textAreaBottom"/>
            <a:pathLst>
              <a:path w="6322048" h="9434305">
                <a:moveTo>
                  <a:pt x="0" y="0"/>
                </a:moveTo>
                <a:lnTo>
                  <a:pt x="6322048" y="0"/>
                </a:lnTo>
                <a:lnTo>
                  <a:pt x="6322048" y="9434305"/>
                </a:lnTo>
                <a:lnTo>
                  <a:pt x="0" y="943430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786600" y="1026720"/>
            <a:ext cx="11273400" cy="12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057"/>
              </a:lnSpc>
            </a:pPr>
            <a:r>
              <a:rPr b="1" lang="en-US" sz="8380" spc="-167" strike="noStrike" u="none">
                <a:solidFill>
                  <a:srgbClr val="ffffff"/>
                </a:solidFill>
                <a:effectLst/>
                <a:uFillTx/>
                <a:latin typeface="Source Han Sans KR Bold"/>
                <a:ea typeface="Source Han Sans KR Bold"/>
              </a:rPr>
              <a:t>2. </a:t>
            </a:r>
            <a:r>
              <a:rPr b="1" lang="ko-KR" sz="8380" spc="-167" strike="noStrike" u="none">
                <a:solidFill>
                  <a:srgbClr val="ffffff"/>
                </a:solidFill>
                <a:effectLst/>
                <a:uFillTx/>
                <a:latin typeface="Source Han Sans KR Bold"/>
                <a:ea typeface="Source Han Sans KR Bold"/>
              </a:rPr>
              <a:t>분석 대상 영문 뉴스</a:t>
            </a:r>
            <a:endParaRPr b="0" lang="en-US" sz="838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808560" y="2412360"/>
            <a:ext cx="9091440" cy="12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057"/>
              </a:lnSpc>
            </a:pPr>
            <a:r>
              <a:rPr b="1" lang="ko-KR" sz="8380" spc="-167" strike="noStrike" u="none">
                <a:solidFill>
                  <a:srgbClr val="7ac2e8"/>
                </a:solidFill>
                <a:effectLst/>
                <a:uFillTx/>
                <a:latin typeface="Source Han Sans KR Bold"/>
                <a:ea typeface="Source Han Sans KR Bold"/>
              </a:rPr>
              <a:t>및 어휘 정리 과정</a:t>
            </a:r>
            <a:endParaRPr b="0" lang="en-US" sz="838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3" name="TextBox 6"/>
          <p:cNvSpPr/>
          <p:nvPr/>
        </p:nvSpPr>
        <p:spPr>
          <a:xfrm>
            <a:off x="873360" y="4430520"/>
            <a:ext cx="107064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8719"/>
              </a:lnSpc>
            </a:pPr>
            <a:r>
              <a:rPr b="1" lang="en-US" sz="7269" spc="-145" strike="noStrike" u="none">
                <a:solidFill>
                  <a:srgbClr val="7ac2e8"/>
                </a:solidFill>
                <a:effectLst/>
                <a:uFillTx/>
                <a:latin typeface="Source Han Sans KR Bold"/>
                <a:ea typeface="Source Han Sans KR Bold"/>
              </a:rPr>
              <a:t>01</a:t>
            </a:r>
            <a:endParaRPr b="0" lang="en-US" sz="7269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4" name="TextBox 7"/>
          <p:cNvSpPr/>
          <p:nvPr/>
        </p:nvSpPr>
        <p:spPr>
          <a:xfrm>
            <a:off x="854640" y="5846400"/>
            <a:ext cx="292392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1" lang="ko-KR" sz="2890" spc="-85" strike="noStrike" u="none">
                <a:solidFill>
                  <a:srgbClr val="ffffff"/>
                </a:solidFill>
                <a:effectLst/>
                <a:uFillTx/>
                <a:latin typeface="Source Han Sans KR Medium"/>
                <a:ea typeface="Source Han Sans KR Medium"/>
              </a:rPr>
              <a:t>분석 대상 뉴스 선정</a:t>
            </a:r>
            <a:endParaRPr b="0" lang="en-US" sz="289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853560" y="6689880"/>
            <a:ext cx="3032280" cy="15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31"/>
              </a:lnSpc>
            </a:pPr>
            <a:r>
              <a:rPr b="0" lang="ko-KR" sz="270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사우디</a:t>
            </a:r>
            <a:r>
              <a:rPr b="0" lang="en-US" sz="270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-</a:t>
            </a:r>
            <a:r>
              <a:rPr b="0" lang="ko-KR" sz="270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예멘 분쟁 및 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ts val="4331"/>
              </a:lnSpc>
            </a:pPr>
            <a:r>
              <a:rPr b="0" lang="ko-KR" sz="270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우크라이나 사태 관련 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ts val="4331"/>
              </a:lnSpc>
            </a:pPr>
            <a:r>
              <a:rPr b="0" lang="ko-KR" sz="270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영문 뉴스 </a:t>
            </a:r>
            <a:r>
              <a:rPr b="0" lang="en-US" sz="270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5</a:t>
            </a:r>
            <a:r>
              <a:rPr b="0" lang="ko-KR" sz="270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편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6" name="Freeform 9"/>
          <p:cNvSpPr/>
          <p:nvPr/>
        </p:nvSpPr>
        <p:spPr>
          <a:xfrm>
            <a:off x="3696840" y="4711680"/>
            <a:ext cx="1312200" cy="437040"/>
          </a:xfrm>
          <a:custGeom>
            <a:avLst/>
            <a:gdLst>
              <a:gd name="textAreaLeft" fmla="*/ 0 w 1312200"/>
              <a:gd name="textAreaRight" fmla="*/ 1312560 w 1312200"/>
              <a:gd name="textAreaTop" fmla="*/ 0 h 437040"/>
              <a:gd name="textAreaBottom" fmla="*/ 437400 h 437040"/>
            </a:gdLst>
            <a:ahLst/>
            <a:cxnLst/>
            <a:rect l="textAreaLeft" t="textAreaTop" r="textAreaRight" b="textAreaBottom"/>
            <a:pathLst>
              <a:path w="1312536" h="437279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5400720" y="4430520"/>
            <a:ext cx="107064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8719"/>
              </a:lnSpc>
            </a:pPr>
            <a:r>
              <a:rPr b="1" lang="en-US" sz="7269" spc="-145" strike="noStrike" u="none">
                <a:solidFill>
                  <a:srgbClr val="7ac2e8"/>
                </a:solidFill>
                <a:effectLst/>
                <a:uFillTx/>
                <a:latin typeface="Source Han Sans KR Bold"/>
                <a:ea typeface="Source Han Sans KR Bold"/>
              </a:rPr>
              <a:t>02</a:t>
            </a:r>
            <a:endParaRPr b="0" lang="en-US" sz="7269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8" name="TextBox 11"/>
          <p:cNvSpPr/>
          <p:nvPr/>
        </p:nvSpPr>
        <p:spPr>
          <a:xfrm>
            <a:off x="5393880" y="5846400"/>
            <a:ext cx="176256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1" lang="ko-KR" sz="2890" spc="-85" strike="noStrike" u="none">
                <a:solidFill>
                  <a:srgbClr val="ffffff"/>
                </a:solidFill>
                <a:effectLst/>
                <a:uFillTx/>
                <a:latin typeface="Source Han Sans KR Medium"/>
                <a:ea typeface="Source Han Sans KR Medium"/>
              </a:rPr>
              <a:t>불용어 제거</a:t>
            </a:r>
            <a:endParaRPr b="0" lang="en-US" sz="289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9" name="TextBox 12"/>
          <p:cNvSpPr/>
          <p:nvPr/>
        </p:nvSpPr>
        <p:spPr>
          <a:xfrm>
            <a:off x="5382000" y="6689880"/>
            <a:ext cx="2934360" cy="15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31"/>
              </a:lnSpc>
            </a:pPr>
            <a:r>
              <a:rPr b="0" lang="ko-KR" sz="270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관사</a:t>
            </a:r>
            <a:r>
              <a:rPr b="0" lang="en-US" sz="270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(the, a), </a:t>
            </a:r>
            <a:r>
              <a:rPr b="0" lang="ko-KR" sz="270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전치사</a:t>
            </a:r>
            <a:r>
              <a:rPr b="0" lang="en-US" sz="270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, 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ts val="4331"/>
              </a:lnSpc>
            </a:pPr>
            <a:r>
              <a:rPr b="0" lang="en-US" sz="270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be</a:t>
            </a:r>
            <a:r>
              <a:rPr b="0" lang="ko-KR" sz="270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동사 등 무의미한 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ts val="4331"/>
              </a:lnSpc>
            </a:pPr>
            <a:r>
              <a:rPr b="0" lang="ko-KR" sz="270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기능어 제외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0" name="Freeform 13"/>
          <p:cNvSpPr/>
          <p:nvPr/>
        </p:nvSpPr>
        <p:spPr>
          <a:xfrm>
            <a:off x="7394040" y="4711680"/>
            <a:ext cx="1541880" cy="437040"/>
          </a:xfrm>
          <a:custGeom>
            <a:avLst/>
            <a:gdLst>
              <a:gd name="textAreaLeft" fmla="*/ 0 w 1541880"/>
              <a:gd name="textAreaRight" fmla="*/ 1542240 w 1541880"/>
              <a:gd name="textAreaTop" fmla="*/ 0 h 437040"/>
              <a:gd name="textAreaBottom" fmla="*/ 437400 h 437040"/>
            </a:gdLst>
            <a:ahLst/>
            <a:cxnLst/>
            <a:rect l="textAreaLeft" t="textAreaTop" r="textAreaRight" b="textAreaBottom"/>
            <a:pathLst>
              <a:path w="1542230" h="437279">
                <a:moveTo>
                  <a:pt x="0" y="0"/>
                </a:moveTo>
                <a:lnTo>
                  <a:pt x="1542230" y="0"/>
                </a:lnTo>
                <a:lnTo>
                  <a:pt x="154223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1" name="TextBox 14"/>
          <p:cNvSpPr/>
          <p:nvPr/>
        </p:nvSpPr>
        <p:spPr>
          <a:xfrm>
            <a:off x="9258480" y="4430520"/>
            <a:ext cx="107064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8719"/>
              </a:lnSpc>
            </a:pPr>
            <a:r>
              <a:rPr b="1" lang="en-US" sz="7269" spc="-145" strike="noStrike" u="none">
                <a:solidFill>
                  <a:srgbClr val="7ac2e8"/>
                </a:solidFill>
                <a:effectLst/>
                <a:uFillTx/>
                <a:latin typeface="Source Han Sans KR Bold"/>
                <a:ea typeface="Source Han Sans KR Bold"/>
              </a:rPr>
              <a:t>03</a:t>
            </a:r>
            <a:endParaRPr b="0" lang="en-US" sz="7269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2" name="TextBox 15"/>
          <p:cNvSpPr/>
          <p:nvPr/>
        </p:nvSpPr>
        <p:spPr>
          <a:xfrm>
            <a:off x="9247320" y="5846400"/>
            <a:ext cx="217440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75"/>
              </a:lnSpc>
            </a:pPr>
            <a:r>
              <a:rPr b="1" lang="ko-KR" sz="2890" spc="-85" strike="noStrike" u="none">
                <a:solidFill>
                  <a:srgbClr val="ffffff"/>
                </a:solidFill>
                <a:effectLst/>
                <a:uFillTx/>
                <a:latin typeface="Source Han Sans KR Medium"/>
                <a:ea typeface="Source Han Sans KR Medium"/>
              </a:rPr>
              <a:t>핵심 어휘 선별</a:t>
            </a:r>
            <a:endParaRPr b="0" lang="en-US" sz="289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3" name="TextBox 16"/>
          <p:cNvSpPr/>
          <p:nvPr/>
        </p:nvSpPr>
        <p:spPr>
          <a:xfrm>
            <a:off x="9243360" y="6699600"/>
            <a:ext cx="255492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95"/>
              </a:lnSpc>
            </a:pPr>
            <a:r>
              <a:rPr b="0" lang="ko-KR" sz="262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전체 </a:t>
            </a:r>
            <a:r>
              <a:rPr b="0" lang="en-US" sz="262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229</a:t>
            </a:r>
            <a:r>
              <a:rPr b="0" lang="ko-KR" sz="262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개 어휘 중 </a:t>
            </a:r>
            <a:r>
              <a:rPr b="0" lang="en-US" sz="262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151</a:t>
            </a:r>
            <a:r>
              <a:rPr b="0" lang="ko-KR" sz="262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개</a:t>
            </a:r>
            <a:endParaRPr b="0" lang="en-US" sz="262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4" name="TextBox 18"/>
          <p:cNvSpPr/>
          <p:nvPr/>
        </p:nvSpPr>
        <p:spPr>
          <a:xfrm>
            <a:off x="9180000" y="7764840"/>
            <a:ext cx="28800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195"/>
              </a:lnSpc>
            </a:pPr>
            <a:r>
              <a:rPr b="0" lang="ko-KR" sz="262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고유 내용어 추출</a:t>
            </a:r>
            <a:endParaRPr b="0" lang="en-US" sz="262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5" name="Freeform 19"/>
          <p:cNvSpPr/>
          <p:nvPr/>
        </p:nvSpPr>
        <p:spPr>
          <a:xfrm>
            <a:off x="864000" y="8997120"/>
            <a:ext cx="3062160" cy="437040"/>
          </a:xfrm>
          <a:custGeom>
            <a:avLst/>
            <a:gdLst>
              <a:gd name="textAreaLeft" fmla="*/ 0 w 3062160"/>
              <a:gd name="textAreaRight" fmla="*/ 3062520 w 3062160"/>
              <a:gd name="textAreaTop" fmla="*/ 0 h 437040"/>
              <a:gd name="textAreaBottom" fmla="*/ 437400 h 437040"/>
            </a:gdLst>
            <a:ahLst/>
            <a:cxnLst/>
            <a:rect l="textAreaLeft" t="textAreaTop" r="textAreaRight" b="textAreaBottom"/>
            <a:pathLst>
              <a:path w="3062584" h="437279">
                <a:moveTo>
                  <a:pt x="0" y="0"/>
                </a:moveTo>
                <a:lnTo>
                  <a:pt x="3062584" y="0"/>
                </a:lnTo>
                <a:lnTo>
                  <a:pt x="306258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6" name="Freeform 20"/>
          <p:cNvSpPr/>
          <p:nvPr/>
        </p:nvSpPr>
        <p:spPr>
          <a:xfrm>
            <a:off x="5217480" y="8997120"/>
            <a:ext cx="3281040" cy="437040"/>
          </a:xfrm>
          <a:custGeom>
            <a:avLst/>
            <a:gdLst>
              <a:gd name="textAreaLeft" fmla="*/ 0 w 3281040"/>
              <a:gd name="textAreaRight" fmla="*/ 3281400 w 3281040"/>
              <a:gd name="textAreaTop" fmla="*/ 0 h 437040"/>
              <a:gd name="textAreaBottom" fmla="*/ 437400 h 437040"/>
            </a:gdLst>
            <a:ahLst/>
            <a:cxnLst/>
            <a:rect l="textAreaLeft" t="textAreaTop" r="textAreaRight" b="textAreaBottom"/>
            <a:pathLst>
              <a:path w="3281340" h="437279">
                <a:moveTo>
                  <a:pt x="0" y="0"/>
                </a:moveTo>
                <a:lnTo>
                  <a:pt x="3281340" y="0"/>
                </a:lnTo>
                <a:lnTo>
                  <a:pt x="328134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7" name="Freeform 21"/>
          <p:cNvSpPr/>
          <p:nvPr/>
        </p:nvSpPr>
        <p:spPr>
          <a:xfrm>
            <a:off x="9144000" y="8997120"/>
            <a:ext cx="2832480" cy="437040"/>
          </a:xfrm>
          <a:custGeom>
            <a:avLst/>
            <a:gdLst>
              <a:gd name="textAreaLeft" fmla="*/ 0 w 2832480"/>
              <a:gd name="textAreaRight" fmla="*/ 2832840 w 2832480"/>
              <a:gd name="textAreaTop" fmla="*/ 0 h 437040"/>
              <a:gd name="textAreaBottom" fmla="*/ 437400 h 437040"/>
            </a:gdLst>
            <a:ahLst/>
            <a:cxnLst/>
            <a:rect l="textAreaLeft" t="textAreaTop" r="textAreaRight" b="textAreaBottom"/>
            <a:pathLst>
              <a:path w="2832890" h="437279">
                <a:moveTo>
                  <a:pt x="0" y="0"/>
                </a:moveTo>
                <a:lnTo>
                  <a:pt x="2832890" y="0"/>
                </a:lnTo>
                <a:lnTo>
                  <a:pt x="283289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494640" y="597960"/>
            <a:ext cx="13545360" cy="7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007"/>
              </a:lnSpc>
            </a:pPr>
            <a:r>
              <a:rPr b="1" lang="en-US" sz="6010" spc="-119" strike="noStrike" u="none">
                <a:solidFill>
                  <a:srgbClr val="ffffff">
                    <a:alpha val="95000"/>
                  </a:srgbClr>
                </a:solidFill>
                <a:effectLst/>
                <a:uFillTx/>
                <a:latin typeface="Source Han Sans KR Bold"/>
                <a:ea typeface="Source Han Sans KR Bold"/>
              </a:rPr>
              <a:t>3. </a:t>
            </a:r>
            <a:r>
              <a:rPr b="1" lang="ko-KR" sz="6010" spc="-119" strike="noStrike" u="none">
                <a:solidFill>
                  <a:srgbClr val="ffffff">
                    <a:alpha val="95000"/>
                  </a:srgbClr>
                </a:solidFill>
                <a:effectLst/>
                <a:uFillTx/>
                <a:latin typeface="Source Han Sans KR Bold"/>
                <a:ea typeface="Source Han Sans KR Bold"/>
              </a:rPr>
              <a:t>주요 영단어 출현 빈도 및 시각화 결과</a:t>
            </a:r>
            <a:endParaRPr b="0" lang="en-US" sz="601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523080" y="1596960"/>
            <a:ext cx="1153692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33"/>
              </a:lnSpc>
            </a:pPr>
            <a:r>
              <a:rPr b="1" lang="ko-KR" sz="3030" spc="-60" strike="noStrike" u="none">
                <a:solidFill>
                  <a:srgbClr val="70b6e6">
                    <a:alpha val="95000"/>
                  </a:srgbClr>
                </a:solidFill>
                <a:effectLst/>
                <a:uFillTx/>
                <a:latin typeface="Source Han Sans KR Medium"/>
                <a:ea typeface="Source Han Sans KR Medium"/>
              </a:rPr>
              <a:t>가장 많이 등장한 핵심 영단어들과 뉴스 사건의 연관성 분석</a:t>
            </a:r>
            <a:endParaRPr b="0" lang="en-US" sz="303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01" name="TextBox 24"/>
          <p:cNvSpPr/>
          <p:nvPr/>
        </p:nvSpPr>
        <p:spPr>
          <a:xfrm>
            <a:off x="486360" y="9085680"/>
            <a:ext cx="15173640" cy="4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56"/>
              </a:lnSpc>
            </a:pPr>
            <a:r>
              <a:rPr b="1" lang="ko-KR" sz="3759" spc="-74" strike="noStrike" u="none">
                <a:solidFill>
                  <a:srgbClr val="ffffff">
                    <a:alpha val="95000"/>
                  </a:srgbClr>
                </a:solidFill>
                <a:effectLst/>
                <a:uFillTx/>
                <a:latin typeface="Source Han Sans KR Medium"/>
                <a:ea typeface="Source Han Sans KR Medium"/>
              </a:rPr>
              <a:t>공항 및 기반 시설을 겨냥한 </a:t>
            </a:r>
            <a:r>
              <a:rPr b="1" lang="ko-KR" sz="3759" spc="-74" strike="noStrike" u="none">
                <a:solidFill>
                  <a:srgbClr val="70b6e6">
                    <a:alpha val="95000"/>
                  </a:srgbClr>
                </a:solidFill>
                <a:effectLst/>
                <a:uFillTx/>
                <a:latin typeface="Source Han Sans KR Bold"/>
                <a:ea typeface="Source Han Sans KR Bold"/>
              </a:rPr>
              <a:t>군사적 공습 사건</a:t>
            </a:r>
            <a:r>
              <a:rPr b="1" lang="ko-KR" sz="3759" spc="-74" strike="noStrike" u="none">
                <a:solidFill>
                  <a:srgbClr val="ffffff">
                    <a:alpha val="95000"/>
                  </a:srgbClr>
                </a:solidFill>
                <a:effectLst/>
                <a:uFillTx/>
                <a:latin typeface="Source Han Sans KR Medium"/>
                <a:ea typeface="Source Han Sans KR Medium"/>
              </a:rPr>
              <a:t>이 핵심 쟁점임을 파악</a:t>
            </a:r>
            <a:endParaRPr b="0" lang="en-US" sz="3759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1005840" y="2224080"/>
            <a:ext cx="7814160" cy="623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3"/>
          <a:stretch/>
        </p:blipFill>
        <p:spPr>
          <a:xfrm>
            <a:off x="9180000" y="2809800"/>
            <a:ext cx="8581320" cy="511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601560" y="755640"/>
            <a:ext cx="9298440" cy="12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556"/>
              </a:lnSpc>
            </a:pPr>
            <a:r>
              <a:rPr b="1" lang="en-US" sz="7960" spc="-238" strike="noStrike" u="none">
                <a:solidFill>
                  <a:srgbClr val="f8f8f8"/>
                </a:solidFill>
                <a:effectLst/>
                <a:uFillTx/>
                <a:latin typeface="Source Han Sans KR Bold"/>
                <a:ea typeface="Source Han Sans KR Bold"/>
              </a:rPr>
              <a:t>4. </a:t>
            </a:r>
            <a:r>
              <a:rPr b="1" lang="ko-KR" sz="7960" spc="-238" strike="noStrike" u="none">
                <a:solidFill>
                  <a:srgbClr val="f8f8f8"/>
                </a:solidFill>
                <a:effectLst/>
                <a:uFillTx/>
                <a:latin typeface="Source Han Sans KR Bold"/>
                <a:ea typeface="Source Han Sans KR Bold"/>
              </a:rPr>
              <a:t>문맥상 인접한</a:t>
            </a:r>
            <a:endParaRPr b="0" lang="en-US" sz="796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566640" y="2021040"/>
            <a:ext cx="12033360" cy="12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556"/>
              </a:lnSpc>
            </a:pPr>
            <a:r>
              <a:rPr b="1" lang="ko-KR" sz="7960" spc="-238" strike="noStrike" u="none">
                <a:solidFill>
                  <a:srgbClr val="7dc0e8"/>
                </a:solidFill>
                <a:effectLst/>
                <a:uFillTx/>
                <a:latin typeface="Source Han Sans KR Bold"/>
                <a:ea typeface="Source Han Sans KR Bold"/>
              </a:rPr>
              <a:t>짝꿍 단어</a:t>
            </a:r>
            <a:r>
              <a:rPr b="1" lang="en-US" sz="7960" spc="-238" strike="noStrike" u="none">
                <a:solidFill>
                  <a:srgbClr val="7dc0e8"/>
                </a:solidFill>
                <a:effectLst/>
                <a:uFillTx/>
                <a:latin typeface="Source Han Sans KR Bold"/>
                <a:ea typeface="Source Han Sans KR Bold"/>
              </a:rPr>
              <a:t>(</a:t>
            </a:r>
            <a:r>
              <a:rPr b="1" lang="ko-KR" sz="7960" spc="-238" strike="noStrike" u="none">
                <a:solidFill>
                  <a:srgbClr val="7dc0e8"/>
                </a:solidFill>
                <a:effectLst/>
                <a:uFillTx/>
                <a:latin typeface="Source Han Sans KR Bold"/>
                <a:ea typeface="Source Han Sans KR Bold"/>
              </a:rPr>
              <a:t>연어</a:t>
            </a:r>
            <a:r>
              <a:rPr b="1" lang="en-US" sz="7960" spc="-238" strike="noStrike" u="none">
                <a:solidFill>
                  <a:srgbClr val="7dc0e8"/>
                </a:solidFill>
                <a:effectLst/>
                <a:uFillTx/>
                <a:latin typeface="Source Han Sans KR Bold"/>
                <a:ea typeface="Source Han Sans KR Bold"/>
              </a:rPr>
              <a:t>) </a:t>
            </a:r>
            <a:r>
              <a:rPr b="1" lang="ko-KR" sz="7960" spc="-238" strike="noStrike" u="none">
                <a:solidFill>
                  <a:srgbClr val="7dc0e8"/>
                </a:solidFill>
                <a:effectLst/>
                <a:uFillTx/>
                <a:latin typeface="Source Han Sans KR Bold"/>
                <a:ea typeface="Source Han Sans KR Bold"/>
              </a:rPr>
              <a:t>네트워크</a:t>
            </a:r>
            <a:endParaRPr b="0" lang="en-US" sz="796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07" name="Freeform 6"/>
          <p:cNvSpPr/>
          <p:nvPr/>
        </p:nvSpPr>
        <p:spPr>
          <a:xfrm>
            <a:off x="645480" y="3640320"/>
            <a:ext cx="1323000" cy="218160"/>
          </a:xfrm>
          <a:custGeom>
            <a:avLst/>
            <a:gdLst>
              <a:gd name="textAreaLeft" fmla="*/ 0 w 1323000"/>
              <a:gd name="textAreaRight" fmla="*/ 1323360 w 1323000"/>
              <a:gd name="textAreaTop" fmla="*/ 0 h 218160"/>
              <a:gd name="textAreaBottom" fmla="*/ 218520 h 218160"/>
            </a:gdLst>
            <a:ahLst/>
            <a:cxnLst/>
            <a:rect l="textAreaLeft" t="textAreaTop" r="textAreaRight" b="textAreaBottom"/>
            <a:pathLst>
              <a:path w="1323474" h="218640">
                <a:moveTo>
                  <a:pt x="0" y="0"/>
                </a:moveTo>
                <a:lnTo>
                  <a:pt x="1323474" y="0"/>
                </a:lnTo>
                <a:lnTo>
                  <a:pt x="132347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08" name="TextBox 7"/>
          <p:cNvSpPr/>
          <p:nvPr/>
        </p:nvSpPr>
        <p:spPr>
          <a:xfrm>
            <a:off x="670680" y="4278240"/>
            <a:ext cx="527760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30"/>
              </a:lnSpc>
            </a:pPr>
            <a:r>
              <a:rPr b="0" lang="ko-KR" sz="2490" spc="-74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문장 내에서 가까이 함께 쓰인</a:t>
            </a:r>
            <a:endParaRPr b="0" lang="en-US" sz="249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ts val="3730"/>
              </a:lnSpc>
            </a:pPr>
            <a:r>
              <a:rPr b="0" lang="ko-KR" sz="2490" spc="-74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짝꿍 단어들만 추출하여 도출한 의미 군집</a:t>
            </a:r>
            <a:endParaRPr b="0" lang="en-US" sz="249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09" name="TextBox 8"/>
          <p:cNvSpPr/>
          <p:nvPr/>
        </p:nvSpPr>
        <p:spPr>
          <a:xfrm>
            <a:off x="673560" y="5679720"/>
            <a:ext cx="4981320" cy="4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059"/>
              </a:lnSpc>
            </a:pPr>
            <a:r>
              <a:rPr b="0" lang="ko-KR" sz="270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문장 내 </a:t>
            </a:r>
            <a:r>
              <a:rPr b="0" lang="en-US" sz="270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4</a:t>
            </a:r>
            <a:r>
              <a:rPr b="0" lang="ko-KR" sz="270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단어 이내 인접 단어만 선별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0" name="TextBox 9"/>
          <p:cNvSpPr/>
          <p:nvPr/>
        </p:nvSpPr>
        <p:spPr>
          <a:xfrm>
            <a:off x="666000" y="6612840"/>
            <a:ext cx="5746320" cy="9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30"/>
              </a:lnSpc>
            </a:pPr>
            <a:r>
              <a:rPr b="0" lang="en-US" sz="2490" spc="-74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2</a:t>
            </a:r>
            <a:r>
              <a:rPr b="0" lang="ko-KR" sz="2490" spc="-74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회 이상 함께 쓰인</a:t>
            </a:r>
            <a:endParaRPr b="0" lang="en-US" sz="249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ts val="3730"/>
              </a:lnSpc>
            </a:pPr>
            <a:r>
              <a:rPr b="0" lang="ko-KR" sz="2490" spc="-74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의미 있는 짝꿍 단어만 연결</a:t>
            </a:r>
            <a:r>
              <a:rPr b="0" lang="en-US" sz="2490" spc="-74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(Threshold &gt;= 2)</a:t>
            </a:r>
            <a:endParaRPr b="0" lang="en-US" sz="249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694440" y="8013960"/>
            <a:ext cx="2895480" cy="4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059"/>
              </a:lnSpc>
            </a:pPr>
            <a:r>
              <a:rPr b="0" lang="ko-KR" sz="270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도출된 </a:t>
            </a:r>
            <a:r>
              <a:rPr b="0" lang="en-US" sz="270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4</a:t>
            </a:r>
            <a:r>
              <a:rPr b="0" lang="ko-KR" sz="2700" spc="-79" strike="noStrike" u="none">
                <a:solidFill>
                  <a:srgbClr val="ffffff"/>
                </a:solidFill>
                <a:effectLst/>
                <a:uFillTx/>
                <a:latin typeface="Source Han Sans KR"/>
                <a:ea typeface="Source Han Sans KR"/>
              </a:rPr>
              <a:t>대 핵심 군집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3"/>
          <a:stretch/>
        </p:blipFill>
        <p:spPr>
          <a:xfrm>
            <a:off x="8280000" y="3382560"/>
            <a:ext cx="8721000" cy="6517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4" name="Freeform 3"/>
          <p:cNvSpPr/>
          <p:nvPr/>
        </p:nvSpPr>
        <p:spPr>
          <a:xfrm>
            <a:off x="7831440" y="1071360"/>
            <a:ext cx="10456200" cy="8362440"/>
          </a:xfrm>
          <a:custGeom>
            <a:avLst/>
            <a:gdLst>
              <a:gd name="textAreaLeft" fmla="*/ 0 w 10456200"/>
              <a:gd name="textAreaRight" fmla="*/ 10456560 w 10456200"/>
              <a:gd name="textAreaTop" fmla="*/ 0 h 8362440"/>
              <a:gd name="textAreaBottom" fmla="*/ 8362800 h 8362440"/>
            </a:gdLst>
            <a:ahLst/>
            <a:cxnLst/>
            <a:rect l="textAreaLeft" t="textAreaTop" r="textAreaRight" b="textAreaBottom"/>
            <a:pathLst>
              <a:path w="10456536" h="8362970">
                <a:moveTo>
                  <a:pt x="0" y="0"/>
                </a:moveTo>
                <a:lnTo>
                  <a:pt x="10456536" y="0"/>
                </a:lnTo>
                <a:lnTo>
                  <a:pt x="10456536" y="8362970"/>
                </a:lnTo>
                <a:lnTo>
                  <a:pt x="0" y="836297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5" name="Freeform 4"/>
          <p:cNvSpPr/>
          <p:nvPr/>
        </p:nvSpPr>
        <p:spPr>
          <a:xfrm>
            <a:off x="10008000" y="7499520"/>
            <a:ext cx="5457600" cy="2579760"/>
          </a:xfrm>
          <a:custGeom>
            <a:avLst/>
            <a:gdLst>
              <a:gd name="textAreaLeft" fmla="*/ 0 w 5457600"/>
              <a:gd name="textAreaRight" fmla="*/ 5457960 w 5457600"/>
              <a:gd name="textAreaTop" fmla="*/ 0 h 2579760"/>
              <a:gd name="textAreaBottom" fmla="*/ 2580120 h 2579760"/>
            </a:gdLst>
            <a:ahLst/>
            <a:cxnLst/>
            <a:rect l="textAreaLeft" t="textAreaTop" r="textAreaRight" b="textAreaBottom"/>
            <a:pathLst>
              <a:path w="5457962" h="2579949">
                <a:moveTo>
                  <a:pt x="0" y="0"/>
                </a:moveTo>
                <a:lnTo>
                  <a:pt x="5457962" y="0"/>
                </a:lnTo>
                <a:lnTo>
                  <a:pt x="545796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6" name="TextBox 5"/>
          <p:cNvSpPr/>
          <p:nvPr/>
        </p:nvSpPr>
        <p:spPr>
          <a:xfrm>
            <a:off x="1007280" y="771120"/>
            <a:ext cx="1073880" cy="11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079"/>
              </a:lnSpc>
            </a:pPr>
            <a:r>
              <a:rPr b="1" lang="en-US" sz="9080" strike="noStrike" u="none">
                <a:solidFill>
                  <a:srgbClr val="7ac2e8"/>
                </a:solidFill>
                <a:effectLst/>
                <a:uFillTx/>
                <a:latin typeface="Source Han Sans KR Bold"/>
                <a:ea typeface="Source Han Sans KR Bold"/>
              </a:rPr>
              <a:t>5.</a:t>
            </a:r>
            <a:endParaRPr b="0" lang="en-US" sz="908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952920" y="2138400"/>
            <a:ext cx="7687080" cy="11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8660"/>
              </a:lnSpc>
            </a:pPr>
            <a:r>
              <a:rPr b="1" lang="ko-KR" sz="8660" strike="noStrike" u="none">
                <a:solidFill>
                  <a:srgbClr val="ffffff"/>
                </a:solidFill>
                <a:effectLst/>
                <a:uFillTx/>
                <a:latin typeface="Source Han Sans KR Bold"/>
                <a:ea typeface="Source Han Sans KR Bold"/>
              </a:rPr>
              <a:t>탐구를 마치며</a:t>
            </a:r>
            <a:endParaRPr b="0" lang="en-US" sz="866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8" name="TextBox 7"/>
          <p:cNvSpPr/>
          <p:nvPr/>
        </p:nvSpPr>
        <p:spPr>
          <a:xfrm>
            <a:off x="952560" y="3354120"/>
            <a:ext cx="7687440" cy="10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8101"/>
              </a:lnSpc>
            </a:pPr>
            <a:r>
              <a:rPr b="1" lang="ko-KR" sz="8100" strike="noStrike" u="none">
                <a:solidFill>
                  <a:srgbClr val="7ac2e8"/>
                </a:solidFill>
                <a:effectLst/>
                <a:uFillTx/>
                <a:latin typeface="Source Han Sans KR Bold"/>
                <a:ea typeface="Source Han Sans KR Bold"/>
              </a:rPr>
              <a:t>배운 점 및 결론</a:t>
            </a:r>
            <a:endParaRPr b="0" lang="en-US" sz="81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19" name="Freeform 8"/>
          <p:cNvSpPr/>
          <p:nvPr/>
        </p:nvSpPr>
        <p:spPr>
          <a:xfrm>
            <a:off x="864000" y="4711680"/>
            <a:ext cx="1531080" cy="218160"/>
          </a:xfrm>
          <a:custGeom>
            <a:avLst/>
            <a:gdLst>
              <a:gd name="textAreaLeft" fmla="*/ 0 w 1531080"/>
              <a:gd name="textAreaRight" fmla="*/ 1531440 w 1531080"/>
              <a:gd name="textAreaTop" fmla="*/ 0 h 218160"/>
              <a:gd name="textAreaBottom" fmla="*/ 218520 h 218160"/>
            </a:gdLst>
            <a:ahLst/>
            <a:cxnLst/>
            <a:rect l="textAreaLeft" t="textAreaTop" r="textAreaRight" b="textAreaBottom"/>
            <a:pathLst>
              <a:path w="1531292" h="218640">
                <a:moveTo>
                  <a:pt x="0" y="0"/>
                </a:moveTo>
                <a:lnTo>
                  <a:pt x="1531292" y="0"/>
                </a:lnTo>
                <a:lnTo>
                  <a:pt x="153129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20" name="TextBox 9"/>
          <p:cNvSpPr/>
          <p:nvPr/>
        </p:nvSpPr>
        <p:spPr>
          <a:xfrm>
            <a:off x="945720" y="5291640"/>
            <a:ext cx="7225920" cy="88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606"/>
              </a:lnSpc>
            </a:pPr>
            <a:r>
              <a:rPr b="1" lang="ko-KR" sz="2570" strike="noStrike" u="none">
                <a:solidFill>
                  <a:srgbClr val="ffffff">
                    <a:alpha val="80000"/>
                  </a:srgbClr>
                </a:solidFill>
                <a:effectLst/>
                <a:uFillTx/>
                <a:latin typeface="Source Han Sans KR Medium"/>
                <a:ea typeface="Source Han Sans KR Medium"/>
              </a:rPr>
              <a:t>문맥 속 짝꿍 단어</a:t>
            </a:r>
            <a:r>
              <a:rPr b="1" lang="en-US" sz="2570" strike="noStrike" u="none">
                <a:solidFill>
                  <a:srgbClr val="ffffff">
                    <a:alpha val="80000"/>
                  </a:srgbClr>
                </a:solidFill>
                <a:effectLst/>
                <a:uFillTx/>
                <a:latin typeface="Source Han Sans KR Medium"/>
                <a:ea typeface="Source Han Sans KR Medium"/>
              </a:rPr>
              <a:t>(Collocation)</a:t>
            </a:r>
            <a:r>
              <a:rPr b="1" lang="ko-KR" sz="2570" strike="noStrike" u="none">
                <a:solidFill>
                  <a:srgbClr val="ffffff">
                    <a:alpha val="80000"/>
                  </a:srgbClr>
                </a:solidFill>
                <a:effectLst/>
                <a:uFillTx/>
                <a:latin typeface="Source Han Sans KR Medium"/>
                <a:ea typeface="Source Han Sans KR Medium"/>
              </a:rPr>
              <a:t>를 파악하는 것이 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ts val="3606"/>
              </a:lnSpc>
            </a:pPr>
            <a:r>
              <a:rPr b="1" lang="ko-KR" sz="2570" strike="noStrike" u="none">
                <a:solidFill>
                  <a:srgbClr val="ffffff">
                    <a:alpha val="80000"/>
                  </a:srgbClr>
                </a:solidFill>
                <a:effectLst/>
                <a:uFillTx/>
                <a:latin typeface="Source Han Sans KR Medium"/>
                <a:ea typeface="Source Han Sans KR Medium"/>
              </a:rPr>
              <a:t>단어를 낱개로 외우는 것보다 훨씬 효과적이었습니다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947160" y="6692400"/>
            <a:ext cx="7067160" cy="88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606"/>
              </a:lnSpc>
            </a:pPr>
            <a:r>
              <a:rPr b="1" lang="ko-KR" sz="2570" strike="noStrike" u="none">
                <a:solidFill>
                  <a:srgbClr val="ffffff">
                    <a:alpha val="80000"/>
                  </a:srgbClr>
                </a:solidFill>
                <a:effectLst/>
                <a:uFillTx/>
                <a:latin typeface="Source Han Sans KR Medium"/>
                <a:ea typeface="Source Han Sans KR Medium"/>
              </a:rPr>
              <a:t>데이터 분석을 통해 복잡한 영문 기사의 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ts val="3606"/>
              </a:lnSpc>
            </a:pPr>
            <a:r>
              <a:rPr b="1" lang="ko-KR" sz="2570" strike="noStrike" u="none">
                <a:solidFill>
                  <a:srgbClr val="ffffff">
                    <a:alpha val="80000"/>
                  </a:srgbClr>
                </a:solidFill>
                <a:effectLst/>
                <a:uFillTx/>
                <a:latin typeface="Source Han Sans KR Medium"/>
                <a:ea typeface="Source Han Sans KR Medium"/>
              </a:rPr>
              <a:t>뼈대와 흐름을 더 빠로고 깊이 이해할 수 있었습니다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122" name="TextBox 11"/>
          <p:cNvSpPr/>
          <p:nvPr/>
        </p:nvSpPr>
        <p:spPr>
          <a:xfrm>
            <a:off x="945000" y="8108280"/>
            <a:ext cx="7302240" cy="88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606"/>
              </a:lnSpc>
            </a:pPr>
            <a:r>
              <a:rPr b="1" lang="ko-KR" sz="2570" strike="noStrike" u="none">
                <a:solidFill>
                  <a:srgbClr val="ffffff">
                    <a:alpha val="80000"/>
                  </a:srgbClr>
                </a:solidFill>
                <a:effectLst/>
                <a:uFillTx/>
                <a:latin typeface="Source Han Sans KR Medium"/>
                <a:ea typeface="Source Han Sans KR Medium"/>
              </a:rPr>
              <a:t>앞으로도 맥락 중심의 독해 습관을 실천하며 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  <a:p>
            <a:pPr defTabSz="914400">
              <a:lnSpc>
                <a:spcPts val="3606"/>
              </a:lnSpc>
            </a:pPr>
            <a:r>
              <a:rPr b="1" lang="ko-KR" sz="2570" strike="noStrike" u="none">
                <a:solidFill>
                  <a:srgbClr val="ffffff">
                    <a:alpha val="80000"/>
                  </a:srgbClr>
                </a:solidFill>
                <a:effectLst/>
                <a:uFillTx/>
                <a:latin typeface="Source Han Sans KR Medium"/>
                <a:ea typeface="Source Han Sans KR Medium"/>
              </a:rPr>
              <a:t>다양한 영문 시사 지문 독해에 꾸준히 적용하겠습니다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DAHXzp4r4XI</dc:identifier>
  <dc:language>ko-KR</dc:language>
  <cp:lastModifiedBy/>
  <dcterms:modified xsi:type="dcterms:W3CDTF">2026-10-12T23:44:24Z</dcterms:modified>
  <cp:revision>2</cp:revision>
  <dc:subject/>
  <dc:title>영문 시사 뉴스 분석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