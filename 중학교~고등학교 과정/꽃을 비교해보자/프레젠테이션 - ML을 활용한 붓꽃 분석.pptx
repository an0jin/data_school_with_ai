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</p:sldIdLst>
  <p:sldSz cx="18288000" cy="10287000"/>
  <p:notesSz cx="6858000" cy="9144000"/>
  <p:embeddedFontLst>
    <p:embeddedFont>
      <p:font typeface="Helvetica World" charset="1" panose="020B0500040000020004"/>
      <p:regular r:id="rId11"/>
    </p:embeddedFont>
    <p:embeddedFont>
      <p:font typeface="Georgia Pro Condensed" charset="1" panose="02040506050405020303"/>
      <p:regular r:id="rId12"/>
    </p:embeddedFont>
    <p:embeddedFont>
      <p:font typeface="Helvetica World Bold" charset="1" panose="020B0800040000020004"/>
      <p:regular r:id="rId13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fonts/font11.fntdata" Type="http://schemas.openxmlformats.org/officeDocument/2006/relationships/font"/><Relationship Id="rId12" Target="fonts/font12.fntdata" Type="http://schemas.openxmlformats.org/officeDocument/2006/relationships/font"/><Relationship Id="rId13" Target="fonts/font13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Relationship Id="rId3" Target="../media/image5.sv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3.sv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png" Type="http://schemas.openxmlformats.org/officeDocument/2006/relationships/image"/><Relationship Id="rId3" Target="../media/image7.sv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8.png" Type="http://schemas.openxmlformats.org/officeDocument/2006/relationships/image"/><Relationship Id="rId3" Target="../media/image6.png" Type="http://schemas.openxmlformats.org/officeDocument/2006/relationships/image"/><Relationship Id="rId4" Target="../media/image7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3B4C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-12700"/>
            <a:ext cx="11201400" cy="10299700"/>
            <a:chOff x="0" y="0"/>
            <a:chExt cx="963348" cy="88579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963348" cy="885799"/>
            </a:xfrm>
            <a:custGeom>
              <a:avLst/>
              <a:gdLst/>
              <a:ahLst/>
              <a:cxnLst/>
              <a:rect r="r" b="b" t="t" l="l"/>
              <a:pathLst>
                <a:path h="885799" w="963348">
                  <a:moveTo>
                    <a:pt x="0" y="0"/>
                  </a:moveTo>
                  <a:lnTo>
                    <a:pt x="963348" y="0"/>
                  </a:lnTo>
                  <a:lnTo>
                    <a:pt x="963348" y="885799"/>
                  </a:lnTo>
                  <a:lnTo>
                    <a:pt x="0" y="885799"/>
                  </a:lnTo>
                  <a:close/>
                </a:path>
              </a:pathLst>
            </a:custGeom>
            <a:solidFill>
              <a:srgbClr val="5C717A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11868150" y="666750"/>
            <a:ext cx="5753100" cy="8953500"/>
            <a:chOff x="0" y="0"/>
            <a:chExt cx="814724" cy="1267949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814724" cy="1267949"/>
            </a:xfrm>
            <a:custGeom>
              <a:avLst/>
              <a:gdLst/>
              <a:ahLst/>
              <a:cxnLst/>
              <a:rect r="r" b="b" t="t" l="l"/>
              <a:pathLst>
                <a:path h="1267949" w="814724">
                  <a:moveTo>
                    <a:pt x="26914" y="0"/>
                  </a:moveTo>
                  <a:lnTo>
                    <a:pt x="787810" y="0"/>
                  </a:lnTo>
                  <a:cubicBezTo>
                    <a:pt x="802675" y="0"/>
                    <a:pt x="814724" y="12050"/>
                    <a:pt x="814724" y="26914"/>
                  </a:cubicBezTo>
                  <a:lnTo>
                    <a:pt x="814724" y="1241035"/>
                  </a:lnTo>
                  <a:cubicBezTo>
                    <a:pt x="814724" y="1255899"/>
                    <a:pt x="802675" y="1267949"/>
                    <a:pt x="787810" y="1267949"/>
                  </a:cubicBezTo>
                  <a:lnTo>
                    <a:pt x="26914" y="1267949"/>
                  </a:lnTo>
                  <a:cubicBezTo>
                    <a:pt x="12050" y="1267949"/>
                    <a:pt x="0" y="1255899"/>
                    <a:pt x="0" y="1241035"/>
                  </a:cubicBezTo>
                  <a:lnTo>
                    <a:pt x="0" y="26914"/>
                  </a:lnTo>
                  <a:cubicBezTo>
                    <a:pt x="0" y="12050"/>
                    <a:pt x="12050" y="0"/>
                    <a:pt x="26914" y="0"/>
                  </a:cubicBezTo>
                  <a:close/>
                </a:path>
              </a:pathLst>
            </a:custGeom>
            <a:blipFill>
              <a:blip r:embed="rId2"/>
              <a:stretch>
                <a:fillRect l="0" t="-199" r="0" b="-199"/>
              </a:stretch>
            </a:blipFill>
          </p:spPr>
        </p:sp>
      </p:grpSp>
      <p:sp>
        <p:nvSpPr>
          <p:cNvPr name="TextBox 6" id="6"/>
          <p:cNvSpPr txBox="true"/>
          <p:nvPr/>
        </p:nvSpPr>
        <p:spPr>
          <a:xfrm rot="0">
            <a:off x="666750" y="9011285"/>
            <a:ext cx="6886575" cy="6089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940"/>
              </a:lnSpc>
            </a:pPr>
            <a:r>
              <a:rPr lang="en-US" sz="3800" spc="-57" strike="noStrike" u="none">
                <a:solidFill>
                  <a:srgbClr val="E6E6E6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[이름] - 고등학교 생물 수행평가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675380" y="975068"/>
            <a:ext cx="9754495" cy="38946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4956"/>
              </a:lnSpc>
            </a:pPr>
            <a:r>
              <a:rPr lang="en-US" sz="14956" spc="-523" strike="noStrike" u="none">
                <a:solidFill>
                  <a:srgbClr val="E6E6E6"/>
                </a:solidFill>
                <a:latin typeface="Georgia Pro Condensed"/>
                <a:ea typeface="Georgia Pro Condensed"/>
                <a:cs typeface="Georgia Pro Condensed"/>
                <a:sym typeface="Georgia Pro Condensed"/>
              </a:rPr>
              <a:t>ML을 활용한 붓꽃 분석</a:t>
            </a:r>
          </a:p>
        </p:txBody>
      </p:sp>
      <p:sp>
        <p:nvSpPr>
          <p:cNvPr name="Freeform 8" id="8"/>
          <p:cNvSpPr/>
          <p:nvPr/>
        </p:nvSpPr>
        <p:spPr>
          <a:xfrm flipH="false" flipV="false" rot="-3117037">
            <a:off x="8947742" y="7656091"/>
            <a:ext cx="2112604" cy="1859092"/>
          </a:xfrm>
          <a:custGeom>
            <a:avLst/>
            <a:gdLst/>
            <a:ahLst/>
            <a:cxnLst/>
            <a:rect r="r" b="b" t="t" l="l"/>
            <a:pathLst>
              <a:path h="1859092" w="2112604">
                <a:moveTo>
                  <a:pt x="0" y="0"/>
                </a:moveTo>
                <a:lnTo>
                  <a:pt x="2112604" y="0"/>
                </a:lnTo>
                <a:lnTo>
                  <a:pt x="2112604" y="1859091"/>
                </a:lnTo>
                <a:lnTo>
                  <a:pt x="0" y="1859091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595B7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7259300" y="9220200"/>
            <a:ext cx="152400" cy="190500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E6E6E6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2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666750" y="666750"/>
            <a:ext cx="16954500" cy="8953500"/>
            <a:chOff x="0" y="0"/>
            <a:chExt cx="4465383" cy="2358123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4465383" cy="2358124"/>
            </a:xfrm>
            <a:custGeom>
              <a:avLst/>
              <a:gdLst/>
              <a:ahLst/>
              <a:cxnLst/>
              <a:rect r="r" b="b" t="t" l="l"/>
              <a:pathLst>
                <a:path h="2358124" w="4465383">
                  <a:moveTo>
                    <a:pt x="20548" y="0"/>
                  </a:moveTo>
                  <a:lnTo>
                    <a:pt x="4444835" y="0"/>
                  </a:lnTo>
                  <a:cubicBezTo>
                    <a:pt x="4456183" y="0"/>
                    <a:pt x="4465383" y="9200"/>
                    <a:pt x="4465383" y="20548"/>
                  </a:cubicBezTo>
                  <a:lnTo>
                    <a:pt x="4465383" y="2337575"/>
                  </a:lnTo>
                  <a:cubicBezTo>
                    <a:pt x="4465383" y="2348924"/>
                    <a:pt x="4456183" y="2358124"/>
                    <a:pt x="4444835" y="2358124"/>
                  </a:cubicBezTo>
                  <a:lnTo>
                    <a:pt x="20548" y="2358124"/>
                  </a:lnTo>
                  <a:cubicBezTo>
                    <a:pt x="9200" y="2358124"/>
                    <a:pt x="0" y="2348924"/>
                    <a:pt x="0" y="2337575"/>
                  </a:cubicBezTo>
                  <a:lnTo>
                    <a:pt x="0" y="20548"/>
                  </a:lnTo>
                  <a:cubicBezTo>
                    <a:pt x="0" y="9200"/>
                    <a:pt x="9200" y="0"/>
                    <a:pt x="20548" y="0"/>
                  </a:cubicBezTo>
                  <a:close/>
                </a:path>
              </a:pathLst>
            </a:custGeom>
            <a:solidFill>
              <a:srgbClr val="8B85AC"/>
            </a:solidFill>
            <a:ln cap="rnd">
              <a:noFill/>
              <a:prstDash val="solid"/>
              <a:round/>
            </a:ln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4465383" cy="239622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33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1800225" y="1562100"/>
            <a:ext cx="13249275" cy="2067009"/>
            <a:chOff x="0" y="0"/>
            <a:chExt cx="17665700" cy="2756012"/>
          </a:xfrm>
        </p:grpSpPr>
        <p:sp>
          <p:nvSpPr>
            <p:cNvPr name="TextBox 7" id="7"/>
            <p:cNvSpPr txBox="true"/>
            <p:nvPr/>
          </p:nvSpPr>
          <p:spPr>
            <a:xfrm rot="0">
              <a:off x="0" y="-85725"/>
              <a:ext cx="17665700" cy="170285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10400"/>
                </a:lnSpc>
              </a:pPr>
              <a:r>
                <a:rPr lang="en-US" sz="8000" spc="-240">
                  <a:solidFill>
                    <a:srgbClr val="E6E6E6"/>
                  </a:solidFill>
                  <a:latin typeface="Georgia Pro Condensed"/>
                  <a:ea typeface="Georgia Pro Condensed"/>
                  <a:cs typeface="Georgia Pro Condensed"/>
                  <a:sym typeface="Georgia Pro Condensed"/>
                </a:rPr>
                <a:t>탐구 데이터 분석</a:t>
              </a:r>
            </a:p>
          </p:txBody>
        </p:sp>
        <p:sp>
          <p:nvSpPr>
            <p:cNvPr name="TextBox 8" id="8"/>
            <p:cNvSpPr txBox="true"/>
            <p:nvPr/>
          </p:nvSpPr>
          <p:spPr>
            <a:xfrm rot="0">
              <a:off x="0" y="2197212"/>
              <a:ext cx="17665700" cy="5588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000"/>
                </a:lnSpc>
                <a:spcBef>
                  <a:spcPct val="0"/>
                </a:spcBef>
              </a:pPr>
              <a:r>
                <a:rPr lang="en-US" b="true" sz="2500" spc="-37">
                  <a:solidFill>
                    <a:srgbClr val="E6E6E6"/>
                  </a:solidFill>
                  <a:latin typeface="Helvetica World Bold"/>
                  <a:ea typeface="Helvetica World Bold"/>
                  <a:cs typeface="Helvetica World Bold"/>
                  <a:sym typeface="Helvetica World Bold"/>
                </a:rPr>
                <a:t>머신러닝을 활용한 생물 분류</a:t>
              </a: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1800225" y="5143500"/>
            <a:ext cx="4308497" cy="1873250"/>
            <a:chOff x="0" y="0"/>
            <a:chExt cx="5744662" cy="2497667"/>
          </a:xfrm>
        </p:grpSpPr>
        <p:sp>
          <p:nvSpPr>
            <p:cNvPr name="TextBox 10" id="10"/>
            <p:cNvSpPr txBox="true"/>
            <p:nvPr/>
          </p:nvSpPr>
          <p:spPr>
            <a:xfrm rot="0">
              <a:off x="0" y="9525"/>
              <a:ext cx="5744662" cy="52387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999"/>
                </a:lnSpc>
                <a:spcBef>
                  <a:spcPct val="0"/>
                </a:spcBef>
              </a:pPr>
              <a:r>
                <a:rPr lang="en-US" b="true" sz="2499" spc="-37">
                  <a:solidFill>
                    <a:srgbClr val="E6E6E6"/>
                  </a:solidFill>
                  <a:latin typeface="Helvetica World Bold"/>
                  <a:ea typeface="Helvetica World Bold"/>
                  <a:cs typeface="Helvetica World Bold"/>
                  <a:sym typeface="Helvetica World Bold"/>
                </a:rPr>
                <a:t>데이터 세트</a:t>
              </a:r>
            </a:p>
          </p:txBody>
        </p:sp>
        <p:sp>
          <p:nvSpPr>
            <p:cNvPr name="TextBox 11" id="11"/>
            <p:cNvSpPr txBox="true"/>
            <p:nvPr/>
          </p:nvSpPr>
          <p:spPr>
            <a:xfrm rot="0">
              <a:off x="0" y="1079500"/>
              <a:ext cx="5744662" cy="141816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800"/>
                </a:lnSpc>
              </a:pPr>
              <a:r>
                <a:rPr lang="en-US" sz="2000" spc="-30" strike="noStrike" u="none">
                  <a:solidFill>
                    <a:srgbClr val="E6E6E6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본 연구는 </a:t>
              </a:r>
              <a:r>
                <a:rPr lang="en-US" b="true" sz="2000" spc="-30" strike="noStrike" u="none">
                  <a:solidFill>
                    <a:srgbClr val="E6E6E6"/>
                  </a:solidFill>
                  <a:latin typeface="Helvetica World Bold"/>
                  <a:ea typeface="Helvetica World Bold"/>
                  <a:cs typeface="Helvetica World Bold"/>
                  <a:sym typeface="Helvetica World Bold"/>
                </a:rPr>
                <a:t>붓꽃(Iris)</a:t>
              </a:r>
              <a:r>
                <a:rPr lang="en-US" sz="2000" spc="-30" strike="noStrike" u="none">
                  <a:solidFill>
                    <a:srgbClr val="E6E6E6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 데이터 세트 150개 샘플로 구성되어 있으며, 세 가지 품종의 생물학적 특성을 비교 분석합니다.</a:t>
              </a: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7291388" y="5143500"/>
            <a:ext cx="4010025" cy="2549525"/>
            <a:chOff x="0" y="0"/>
            <a:chExt cx="5346700" cy="3399367"/>
          </a:xfrm>
        </p:grpSpPr>
        <p:sp>
          <p:nvSpPr>
            <p:cNvPr name="TextBox 13" id="13"/>
            <p:cNvSpPr txBox="true"/>
            <p:nvPr/>
          </p:nvSpPr>
          <p:spPr>
            <a:xfrm rot="0">
              <a:off x="0" y="9525"/>
              <a:ext cx="5346700" cy="52387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999"/>
                </a:lnSpc>
                <a:spcBef>
                  <a:spcPct val="0"/>
                </a:spcBef>
              </a:pPr>
              <a:r>
                <a:rPr lang="en-US" b="true" sz="2499" spc="-37">
                  <a:solidFill>
                    <a:srgbClr val="E6E6E6"/>
                  </a:solidFill>
                  <a:latin typeface="Helvetica World Bold"/>
                  <a:ea typeface="Helvetica World Bold"/>
                  <a:cs typeface="Helvetica World Bold"/>
                  <a:sym typeface="Helvetica World Bold"/>
                </a:rPr>
                <a:t>분석 방법</a:t>
              </a:r>
            </a:p>
          </p:txBody>
        </p:sp>
        <p:sp>
          <p:nvSpPr>
            <p:cNvPr name="TextBox 14" id="14"/>
            <p:cNvSpPr txBox="true"/>
            <p:nvPr/>
          </p:nvSpPr>
          <p:spPr>
            <a:xfrm rot="0">
              <a:off x="0" y="1079500"/>
              <a:ext cx="5346700" cy="231986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800"/>
                </a:lnSpc>
              </a:pPr>
              <a:r>
                <a:rPr lang="en-US" sz="2000" spc="-30" strike="noStrike" u="none">
                  <a:solidFill>
                    <a:srgbClr val="E6E6E6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머신러닝 알고리즘으로 **의사결정나무(Decision Tree Classifier)**를 적용하여, 세포 길이 및 너비, 꽃잎 길이 및 너비를 주요 특성으로 설정했습니다.</a:t>
              </a: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12172950" y="5143500"/>
            <a:ext cx="4010025" cy="2197100"/>
            <a:chOff x="0" y="0"/>
            <a:chExt cx="5346700" cy="2929467"/>
          </a:xfrm>
        </p:grpSpPr>
        <p:sp>
          <p:nvSpPr>
            <p:cNvPr name="TextBox 16" id="16"/>
            <p:cNvSpPr txBox="true"/>
            <p:nvPr/>
          </p:nvSpPr>
          <p:spPr>
            <a:xfrm rot="0">
              <a:off x="0" y="9525"/>
              <a:ext cx="5346700" cy="52387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999"/>
                </a:lnSpc>
                <a:spcBef>
                  <a:spcPct val="0"/>
                </a:spcBef>
              </a:pPr>
              <a:r>
                <a:rPr lang="en-US" b="true" sz="2499" spc="-37">
                  <a:solidFill>
                    <a:srgbClr val="E6E6E6"/>
                  </a:solidFill>
                  <a:latin typeface="Helvetica World Bold"/>
                  <a:ea typeface="Helvetica World Bold"/>
                  <a:cs typeface="Helvetica World Bold"/>
                  <a:sym typeface="Helvetica World Bold"/>
                </a:rPr>
                <a:t>주요 특성</a:t>
              </a:r>
            </a:p>
          </p:txBody>
        </p:sp>
        <p:sp>
          <p:nvSpPr>
            <p:cNvPr name="TextBox 17" id="17"/>
            <p:cNvSpPr txBox="true"/>
            <p:nvPr/>
          </p:nvSpPr>
          <p:spPr>
            <a:xfrm rot="0">
              <a:off x="0" y="1079500"/>
              <a:ext cx="5346700" cy="184996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800"/>
                </a:lnSpc>
              </a:pPr>
              <a:r>
                <a:rPr lang="en-US" sz="2000" spc="-30" strike="noStrike" u="none">
                  <a:solidFill>
                    <a:srgbClr val="E6E6E6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연구에서 사용된 주요 특성은 꽃받침 길이, 꽃받침 너비, 꽃잎 길이, 꽃잎 너비로, 이들 데이터가 품종 분류에 핵심적인 역할을 합니다.</a:t>
              </a:r>
            </a:p>
          </p:txBody>
        </p:sp>
      </p:grpSp>
      <p:sp>
        <p:nvSpPr>
          <p:cNvPr name="Freeform 18" id="18"/>
          <p:cNvSpPr/>
          <p:nvPr/>
        </p:nvSpPr>
        <p:spPr>
          <a:xfrm flipH="false" flipV="false" rot="-3117037">
            <a:off x="16099474" y="7952721"/>
            <a:ext cx="2112604" cy="1859092"/>
          </a:xfrm>
          <a:custGeom>
            <a:avLst/>
            <a:gdLst/>
            <a:ahLst/>
            <a:cxnLst/>
            <a:rect r="r" b="b" t="t" l="l"/>
            <a:pathLst>
              <a:path h="1859092" w="2112604">
                <a:moveTo>
                  <a:pt x="0" y="0"/>
                </a:moveTo>
                <a:lnTo>
                  <a:pt x="2112605" y="0"/>
                </a:lnTo>
                <a:lnTo>
                  <a:pt x="2112605" y="1859092"/>
                </a:lnTo>
                <a:lnTo>
                  <a:pt x="0" y="185909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3B4C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7259300" y="9220200"/>
            <a:ext cx="152400" cy="190500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E6E6E6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3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666750" y="666750"/>
            <a:ext cx="16954500" cy="8953500"/>
            <a:chOff x="0" y="0"/>
            <a:chExt cx="4465383" cy="2358123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4465383" cy="2358124"/>
            </a:xfrm>
            <a:custGeom>
              <a:avLst/>
              <a:gdLst/>
              <a:ahLst/>
              <a:cxnLst/>
              <a:rect r="r" b="b" t="t" l="l"/>
              <a:pathLst>
                <a:path h="2358124" w="4465383">
                  <a:moveTo>
                    <a:pt x="20548" y="0"/>
                  </a:moveTo>
                  <a:lnTo>
                    <a:pt x="4444835" y="0"/>
                  </a:lnTo>
                  <a:cubicBezTo>
                    <a:pt x="4456183" y="0"/>
                    <a:pt x="4465383" y="9200"/>
                    <a:pt x="4465383" y="20548"/>
                  </a:cubicBezTo>
                  <a:lnTo>
                    <a:pt x="4465383" y="2337575"/>
                  </a:lnTo>
                  <a:cubicBezTo>
                    <a:pt x="4465383" y="2348924"/>
                    <a:pt x="4456183" y="2358124"/>
                    <a:pt x="4444835" y="2358124"/>
                  </a:cubicBezTo>
                  <a:lnTo>
                    <a:pt x="20548" y="2358124"/>
                  </a:lnTo>
                  <a:cubicBezTo>
                    <a:pt x="9200" y="2358124"/>
                    <a:pt x="0" y="2348924"/>
                    <a:pt x="0" y="2337575"/>
                  </a:cubicBezTo>
                  <a:lnTo>
                    <a:pt x="0" y="20548"/>
                  </a:lnTo>
                  <a:cubicBezTo>
                    <a:pt x="0" y="9200"/>
                    <a:pt x="9200" y="0"/>
                    <a:pt x="20548" y="0"/>
                  </a:cubicBezTo>
                  <a:close/>
                </a:path>
              </a:pathLst>
            </a:custGeom>
            <a:solidFill>
              <a:srgbClr val="5C717A"/>
            </a:solidFill>
            <a:ln cap="rnd">
              <a:noFill/>
              <a:prstDash val="solid"/>
              <a:round/>
            </a:ln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4465383" cy="239622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33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1800225" y="1562100"/>
            <a:ext cx="13249275" cy="2067009"/>
            <a:chOff x="0" y="0"/>
            <a:chExt cx="17665700" cy="2756012"/>
          </a:xfrm>
        </p:grpSpPr>
        <p:sp>
          <p:nvSpPr>
            <p:cNvPr name="TextBox 7" id="7"/>
            <p:cNvSpPr txBox="true"/>
            <p:nvPr/>
          </p:nvSpPr>
          <p:spPr>
            <a:xfrm rot="0">
              <a:off x="0" y="-85725"/>
              <a:ext cx="17665700" cy="170285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10400"/>
                </a:lnSpc>
              </a:pPr>
              <a:r>
                <a:rPr lang="en-US" sz="8000" spc="-240">
                  <a:solidFill>
                    <a:srgbClr val="E6E6E6"/>
                  </a:solidFill>
                  <a:latin typeface="Georgia Pro Condensed"/>
                  <a:ea typeface="Georgia Pro Condensed"/>
                  <a:cs typeface="Georgia Pro Condensed"/>
                  <a:sym typeface="Georgia Pro Condensed"/>
                </a:rPr>
                <a:t>붓꽃 생물학적 특징</a:t>
              </a:r>
            </a:p>
          </p:txBody>
        </p:sp>
        <p:sp>
          <p:nvSpPr>
            <p:cNvPr name="TextBox 8" id="8"/>
            <p:cNvSpPr txBox="true"/>
            <p:nvPr/>
          </p:nvSpPr>
          <p:spPr>
            <a:xfrm rot="0">
              <a:off x="0" y="2197212"/>
              <a:ext cx="17665700" cy="5588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000"/>
                </a:lnSpc>
                <a:spcBef>
                  <a:spcPct val="0"/>
                </a:spcBef>
              </a:pPr>
              <a:r>
                <a:rPr lang="en-US" b="true" sz="2500" spc="-37">
                  <a:solidFill>
                    <a:srgbClr val="E6E6E6"/>
                  </a:solidFill>
                  <a:latin typeface="Helvetica World Bold"/>
                  <a:ea typeface="Helvetica World Bold"/>
                  <a:cs typeface="Helvetica World Bold"/>
                  <a:sym typeface="Helvetica World Bold"/>
                </a:rPr>
                <a:t>세토사, 버시칼라, 버지니카 비교</a:t>
              </a: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1800225" y="5143500"/>
            <a:ext cx="4308497" cy="2225675"/>
            <a:chOff x="0" y="0"/>
            <a:chExt cx="5744662" cy="2967567"/>
          </a:xfrm>
        </p:grpSpPr>
        <p:sp>
          <p:nvSpPr>
            <p:cNvPr name="TextBox 10" id="10"/>
            <p:cNvSpPr txBox="true"/>
            <p:nvPr/>
          </p:nvSpPr>
          <p:spPr>
            <a:xfrm rot="0">
              <a:off x="0" y="9525"/>
              <a:ext cx="5744662" cy="52387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999"/>
                </a:lnSpc>
                <a:spcBef>
                  <a:spcPct val="0"/>
                </a:spcBef>
              </a:pPr>
              <a:r>
                <a:rPr lang="en-US" b="true" sz="2499" spc="-37">
                  <a:solidFill>
                    <a:srgbClr val="E6E6E6"/>
                  </a:solidFill>
                  <a:latin typeface="Helvetica World Bold"/>
                  <a:ea typeface="Helvetica World Bold"/>
                  <a:cs typeface="Helvetica World Bold"/>
                  <a:sym typeface="Helvetica World Bold"/>
                </a:rPr>
                <a:t>세토사</a:t>
              </a:r>
            </a:p>
          </p:txBody>
        </p:sp>
        <p:sp>
          <p:nvSpPr>
            <p:cNvPr name="TextBox 11" id="11"/>
            <p:cNvSpPr txBox="true"/>
            <p:nvPr/>
          </p:nvSpPr>
          <p:spPr>
            <a:xfrm rot="0">
              <a:off x="0" y="1079500"/>
              <a:ext cx="5744662" cy="188806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800"/>
                </a:lnSpc>
              </a:pPr>
              <a:r>
                <a:rPr lang="en-US" sz="2000" spc="-30" strike="noStrike" u="none">
                  <a:solidFill>
                    <a:srgbClr val="E6E6E6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세토사는 평균 꽃잎 길이가 </a:t>
              </a:r>
              <a:r>
                <a:rPr lang="en-US" b="true" sz="2000" spc="-30" strike="noStrike" u="none">
                  <a:solidFill>
                    <a:srgbClr val="E6E6E6"/>
                  </a:solidFill>
                  <a:latin typeface="Helvetica World Bold"/>
                  <a:ea typeface="Helvetica World Bold"/>
                  <a:cs typeface="Helvetica World Bold"/>
                  <a:sym typeface="Helvetica World Bold"/>
                </a:rPr>
                <a:t>1.46cm</a:t>
              </a:r>
              <a:r>
                <a:rPr lang="en-US" sz="2000" spc="-30" strike="noStrike" u="none">
                  <a:solidFill>
                    <a:srgbClr val="E6E6E6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로 가장 작으며, 뚜렷한 구분으로 쉽게 인식됩니다. 이 품종은 특히 작은 꽃잎이 특징입니다.</a:t>
              </a: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7291388" y="5143500"/>
            <a:ext cx="4010025" cy="2225675"/>
            <a:chOff x="0" y="0"/>
            <a:chExt cx="5346700" cy="2967567"/>
          </a:xfrm>
        </p:grpSpPr>
        <p:sp>
          <p:nvSpPr>
            <p:cNvPr name="TextBox 13" id="13"/>
            <p:cNvSpPr txBox="true"/>
            <p:nvPr/>
          </p:nvSpPr>
          <p:spPr>
            <a:xfrm rot="0">
              <a:off x="0" y="9525"/>
              <a:ext cx="5346700" cy="52387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999"/>
                </a:lnSpc>
                <a:spcBef>
                  <a:spcPct val="0"/>
                </a:spcBef>
              </a:pPr>
              <a:r>
                <a:rPr lang="en-US" b="true" sz="2499" spc="-37">
                  <a:solidFill>
                    <a:srgbClr val="E6E6E6"/>
                  </a:solidFill>
                  <a:latin typeface="Helvetica World Bold"/>
                  <a:ea typeface="Helvetica World Bold"/>
                  <a:cs typeface="Helvetica World Bold"/>
                  <a:sym typeface="Helvetica World Bold"/>
                </a:rPr>
                <a:t>버시칼라</a:t>
              </a:r>
            </a:p>
          </p:txBody>
        </p:sp>
        <p:sp>
          <p:nvSpPr>
            <p:cNvPr name="TextBox 14" id="14"/>
            <p:cNvSpPr txBox="true"/>
            <p:nvPr/>
          </p:nvSpPr>
          <p:spPr>
            <a:xfrm rot="0">
              <a:off x="0" y="1079500"/>
              <a:ext cx="5346700" cy="188806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800"/>
                </a:lnSpc>
              </a:pPr>
              <a:r>
                <a:rPr lang="en-US" sz="2000" spc="-30" strike="noStrike" u="none">
                  <a:solidFill>
                    <a:srgbClr val="E6E6E6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버시칼라는 평균 꽃잎 길이가 </a:t>
              </a:r>
              <a:r>
                <a:rPr lang="en-US" b="true" sz="2000" spc="-30" strike="noStrike" u="none">
                  <a:solidFill>
                    <a:srgbClr val="E6E6E6"/>
                  </a:solidFill>
                  <a:latin typeface="Helvetica World Bold"/>
                  <a:ea typeface="Helvetica World Bold"/>
                  <a:cs typeface="Helvetica World Bold"/>
                  <a:sym typeface="Helvetica World Bold"/>
                </a:rPr>
                <a:t>4.26cm</a:t>
              </a:r>
              <a:r>
                <a:rPr lang="en-US" sz="2000" spc="-30" strike="noStrike" u="none">
                  <a:solidFill>
                    <a:srgbClr val="E6E6E6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로 중간 크기의 품종입니다. 이 품종은 세토사와 버지니카의 특징이 혼합되어 있습니다.</a:t>
              </a: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12172950" y="5143500"/>
            <a:ext cx="4010025" cy="2225675"/>
            <a:chOff x="0" y="0"/>
            <a:chExt cx="5346700" cy="2967567"/>
          </a:xfrm>
        </p:grpSpPr>
        <p:sp>
          <p:nvSpPr>
            <p:cNvPr name="TextBox 16" id="16"/>
            <p:cNvSpPr txBox="true"/>
            <p:nvPr/>
          </p:nvSpPr>
          <p:spPr>
            <a:xfrm rot="0">
              <a:off x="0" y="9525"/>
              <a:ext cx="5346700" cy="52387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999"/>
                </a:lnSpc>
                <a:spcBef>
                  <a:spcPct val="0"/>
                </a:spcBef>
              </a:pPr>
              <a:r>
                <a:rPr lang="en-US" b="true" sz="2499" spc="-37">
                  <a:solidFill>
                    <a:srgbClr val="E6E6E6"/>
                  </a:solidFill>
                  <a:latin typeface="Helvetica World Bold"/>
                  <a:ea typeface="Helvetica World Bold"/>
                  <a:cs typeface="Helvetica World Bold"/>
                  <a:sym typeface="Helvetica World Bold"/>
                </a:rPr>
                <a:t>버지니카</a:t>
              </a:r>
            </a:p>
          </p:txBody>
        </p:sp>
        <p:sp>
          <p:nvSpPr>
            <p:cNvPr name="TextBox 17" id="17"/>
            <p:cNvSpPr txBox="true"/>
            <p:nvPr/>
          </p:nvSpPr>
          <p:spPr>
            <a:xfrm rot="0">
              <a:off x="0" y="1079500"/>
              <a:ext cx="5346700" cy="188806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800"/>
                </a:lnSpc>
              </a:pPr>
              <a:r>
                <a:rPr lang="en-US" sz="2000" spc="-30" strike="noStrike" u="none">
                  <a:solidFill>
                    <a:srgbClr val="E6E6E6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버지니카는 평균 꽃잎 길이가 </a:t>
              </a:r>
              <a:r>
                <a:rPr lang="en-US" b="true" sz="2000" spc="-30" strike="noStrike" u="none">
                  <a:solidFill>
                    <a:srgbClr val="E6E6E6"/>
                  </a:solidFill>
                  <a:latin typeface="Helvetica World Bold"/>
                  <a:ea typeface="Helvetica World Bold"/>
                  <a:cs typeface="Helvetica World Bold"/>
                  <a:sym typeface="Helvetica World Bold"/>
                </a:rPr>
                <a:t>5.55cm</a:t>
              </a:r>
              <a:r>
                <a:rPr lang="en-US" sz="2000" spc="-30" strike="noStrike" u="none">
                  <a:solidFill>
                    <a:srgbClr val="E6E6E6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로 가장 큰 대형 품종입니다. 이 품종은 꽃잎의 크기로 다른 두 품종과 쉽게 구분됩니다.</a:t>
              </a:r>
            </a:p>
          </p:txBody>
        </p:sp>
      </p:grpSp>
      <p:sp>
        <p:nvSpPr>
          <p:cNvPr name="Freeform 18" id="18"/>
          <p:cNvSpPr/>
          <p:nvPr/>
        </p:nvSpPr>
        <p:spPr>
          <a:xfrm flipH="false" flipV="false" rot="-3117037">
            <a:off x="16099474" y="7952721"/>
            <a:ext cx="2112604" cy="1859092"/>
          </a:xfrm>
          <a:custGeom>
            <a:avLst/>
            <a:gdLst/>
            <a:ahLst/>
            <a:cxnLst/>
            <a:rect r="r" b="b" t="t" l="l"/>
            <a:pathLst>
              <a:path h="1859092" w="2112604">
                <a:moveTo>
                  <a:pt x="0" y="0"/>
                </a:moveTo>
                <a:lnTo>
                  <a:pt x="2112605" y="0"/>
                </a:lnTo>
                <a:lnTo>
                  <a:pt x="2112605" y="1859092"/>
                </a:lnTo>
                <a:lnTo>
                  <a:pt x="0" y="185909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595B7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7858125" cy="10287000"/>
            <a:chOff x="0" y="0"/>
            <a:chExt cx="2069630" cy="270933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069630" cy="2709333"/>
            </a:xfrm>
            <a:custGeom>
              <a:avLst/>
              <a:gdLst/>
              <a:ahLst/>
              <a:cxnLst/>
              <a:rect r="r" b="b" t="t" l="l"/>
              <a:pathLst>
                <a:path h="2709333" w="2069630">
                  <a:moveTo>
                    <a:pt x="0" y="0"/>
                  </a:moveTo>
                  <a:lnTo>
                    <a:pt x="2069630" y="0"/>
                  </a:lnTo>
                  <a:lnTo>
                    <a:pt x="2069630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C1BAE3"/>
            </a:solidFill>
            <a:ln cap="sq">
              <a:noFill/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2069630" cy="274743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59"/>
                </a:lnSpc>
              </a:pP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666750" y="809625"/>
            <a:ext cx="5448300" cy="20796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8000"/>
              </a:lnSpc>
            </a:pPr>
            <a:r>
              <a:rPr lang="en-US" sz="8000">
                <a:solidFill>
                  <a:srgbClr val="758A94"/>
                </a:solidFill>
                <a:latin typeface="Georgia Pro Condensed"/>
                <a:ea typeface="Georgia Pro Condensed"/>
                <a:cs typeface="Georgia Pro Condensed"/>
                <a:sym typeface="Georgia Pro Condensed"/>
              </a:rPr>
              <a:t>의사결정나무 분류 규칙</a:t>
            </a:r>
          </a:p>
        </p:txBody>
      </p:sp>
      <p:sp>
        <p:nvSpPr>
          <p:cNvPr name="Freeform 6" id="6"/>
          <p:cNvSpPr/>
          <p:nvPr/>
        </p:nvSpPr>
        <p:spPr>
          <a:xfrm flipH="false" flipV="false" rot="0">
            <a:off x="708153" y="7606302"/>
            <a:ext cx="2112604" cy="1859092"/>
          </a:xfrm>
          <a:custGeom>
            <a:avLst/>
            <a:gdLst/>
            <a:ahLst/>
            <a:cxnLst/>
            <a:rect r="r" b="b" t="t" l="l"/>
            <a:pathLst>
              <a:path h="1859092" w="2112604">
                <a:moveTo>
                  <a:pt x="0" y="0"/>
                </a:moveTo>
                <a:lnTo>
                  <a:pt x="2112604" y="0"/>
                </a:lnTo>
                <a:lnTo>
                  <a:pt x="2112604" y="1859092"/>
                </a:lnTo>
                <a:lnTo>
                  <a:pt x="0" y="185909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7" id="7"/>
          <p:cNvGrpSpPr/>
          <p:nvPr/>
        </p:nvGrpSpPr>
        <p:grpSpPr>
          <a:xfrm rot="0">
            <a:off x="10734675" y="6944836"/>
            <a:ext cx="6886575" cy="1370648"/>
            <a:chOff x="0" y="0"/>
            <a:chExt cx="9182100" cy="1827530"/>
          </a:xfrm>
        </p:grpSpPr>
        <p:sp>
          <p:nvSpPr>
            <p:cNvPr name="TextBox 8" id="8"/>
            <p:cNvSpPr txBox="true"/>
            <p:nvPr/>
          </p:nvSpPr>
          <p:spPr>
            <a:xfrm rot="0">
              <a:off x="0" y="0"/>
              <a:ext cx="9182100" cy="6604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600"/>
                </a:lnSpc>
                <a:spcBef>
                  <a:spcPct val="0"/>
                </a:spcBef>
              </a:pPr>
              <a:r>
                <a:rPr lang="en-US" b="true" sz="3000" spc="-44">
                  <a:solidFill>
                    <a:srgbClr val="E6E6E6"/>
                  </a:solidFill>
                  <a:latin typeface="Helvetica World Bold"/>
                  <a:ea typeface="Helvetica World Bold"/>
                  <a:cs typeface="Helvetica World Bold"/>
                  <a:sym typeface="Helvetica World Bold"/>
                </a:rPr>
                <a:t>보조 규칙</a:t>
              </a:r>
            </a:p>
          </p:txBody>
        </p:sp>
        <p:sp>
          <p:nvSpPr>
            <p:cNvPr name="TextBox 9" id="9"/>
            <p:cNvSpPr txBox="true"/>
            <p:nvPr/>
          </p:nvSpPr>
          <p:spPr>
            <a:xfrm rot="0">
              <a:off x="0" y="1304714"/>
              <a:ext cx="9182100" cy="52281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249"/>
                </a:lnSpc>
                <a:spcBef>
                  <a:spcPct val="0"/>
                </a:spcBef>
              </a:pPr>
              <a:r>
                <a:rPr lang="en-US" sz="2499" spc="-37" strike="noStrike" u="none">
                  <a:solidFill>
                    <a:srgbClr val="E6E6E6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꽃잎 너비 1.75cm 이하 -&gt; 버시칼라/버지니카</a:t>
              </a:r>
            </a:p>
          </p:txBody>
        </p:sp>
      </p:grpSp>
      <p:sp>
        <p:nvSpPr>
          <p:cNvPr name="TextBox 10" id="10"/>
          <p:cNvSpPr txBox="true"/>
          <p:nvPr/>
        </p:nvSpPr>
        <p:spPr>
          <a:xfrm rot="0">
            <a:off x="9296400" y="4250055"/>
            <a:ext cx="864987" cy="4286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359"/>
              </a:lnSpc>
              <a:spcBef>
                <a:spcPct val="0"/>
              </a:spcBef>
            </a:pPr>
            <a:r>
              <a:rPr lang="en-US" sz="2799" u="none">
                <a:solidFill>
                  <a:srgbClr val="E6E6E6"/>
                </a:solidFill>
                <a:latin typeface="Georgia Pro Condensed"/>
                <a:ea typeface="Georgia Pro Condensed"/>
                <a:cs typeface="Georgia Pro Condensed"/>
                <a:sym typeface="Georgia Pro Condensed"/>
              </a:rPr>
              <a:t>02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9296400" y="1553369"/>
            <a:ext cx="864987" cy="4286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359"/>
              </a:lnSpc>
              <a:spcBef>
                <a:spcPct val="0"/>
              </a:spcBef>
            </a:pPr>
            <a:r>
              <a:rPr lang="en-US" sz="2799" u="none">
                <a:solidFill>
                  <a:srgbClr val="E6E6E6"/>
                </a:solidFill>
                <a:latin typeface="Georgia Pro Condensed"/>
                <a:ea typeface="Georgia Pro Condensed"/>
                <a:cs typeface="Georgia Pro Condensed"/>
                <a:sym typeface="Georgia Pro Condensed"/>
              </a:rPr>
              <a:t>01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9296400" y="6936105"/>
            <a:ext cx="864987" cy="4286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359"/>
              </a:lnSpc>
              <a:spcBef>
                <a:spcPct val="0"/>
              </a:spcBef>
            </a:pPr>
            <a:r>
              <a:rPr lang="en-US" sz="2799" u="none">
                <a:solidFill>
                  <a:srgbClr val="E6E6E6"/>
                </a:solidFill>
                <a:latin typeface="Georgia Pro Condensed"/>
                <a:ea typeface="Georgia Pro Condensed"/>
                <a:cs typeface="Georgia Pro Condensed"/>
                <a:sym typeface="Georgia Pro Condensed"/>
              </a:rPr>
              <a:t>03</a:t>
            </a:r>
          </a:p>
        </p:txBody>
      </p:sp>
      <p:grpSp>
        <p:nvGrpSpPr>
          <p:cNvPr name="Group 13" id="13"/>
          <p:cNvGrpSpPr/>
          <p:nvPr/>
        </p:nvGrpSpPr>
        <p:grpSpPr>
          <a:xfrm rot="0">
            <a:off x="10734675" y="4248150"/>
            <a:ext cx="6886575" cy="1370648"/>
            <a:chOff x="0" y="0"/>
            <a:chExt cx="9182100" cy="1827530"/>
          </a:xfrm>
        </p:grpSpPr>
        <p:sp>
          <p:nvSpPr>
            <p:cNvPr name="TextBox 14" id="14"/>
            <p:cNvSpPr txBox="true"/>
            <p:nvPr/>
          </p:nvSpPr>
          <p:spPr>
            <a:xfrm rot="0">
              <a:off x="0" y="0"/>
              <a:ext cx="9182100" cy="6604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600"/>
                </a:lnSpc>
                <a:spcBef>
                  <a:spcPct val="0"/>
                </a:spcBef>
              </a:pPr>
              <a:r>
                <a:rPr lang="en-US" b="true" sz="3000" spc="-44" strike="noStrike" u="none">
                  <a:solidFill>
                    <a:srgbClr val="E6E6E6"/>
                  </a:solidFill>
                  <a:latin typeface="Helvetica World Bold"/>
                  <a:ea typeface="Helvetica World Bold"/>
                  <a:cs typeface="Helvetica World Bold"/>
                  <a:sym typeface="Helvetica World Bold"/>
                </a:rPr>
                <a:t>주요 규칙</a:t>
              </a:r>
            </a:p>
          </p:txBody>
        </p:sp>
        <p:sp>
          <p:nvSpPr>
            <p:cNvPr name="TextBox 15" id="15"/>
            <p:cNvSpPr txBox="true"/>
            <p:nvPr/>
          </p:nvSpPr>
          <p:spPr>
            <a:xfrm rot="0">
              <a:off x="0" y="1304714"/>
              <a:ext cx="9182100" cy="52281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249"/>
                </a:lnSpc>
                <a:spcBef>
                  <a:spcPct val="0"/>
                </a:spcBef>
              </a:pPr>
              <a:r>
                <a:rPr lang="en-US" sz="2499" spc="-37" strike="noStrike" u="none">
                  <a:solidFill>
                    <a:srgbClr val="E6E6E6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꽃잎 길이 2.45cm 이하 -&gt; 세토사</a:t>
              </a: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10734675" y="1562100"/>
            <a:ext cx="6886575" cy="1370648"/>
            <a:chOff x="0" y="0"/>
            <a:chExt cx="9182100" cy="1827530"/>
          </a:xfrm>
        </p:grpSpPr>
        <p:sp>
          <p:nvSpPr>
            <p:cNvPr name="TextBox 17" id="17"/>
            <p:cNvSpPr txBox="true"/>
            <p:nvPr/>
          </p:nvSpPr>
          <p:spPr>
            <a:xfrm rot="0">
              <a:off x="0" y="0"/>
              <a:ext cx="9182100" cy="6604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600"/>
                </a:lnSpc>
                <a:spcBef>
                  <a:spcPct val="0"/>
                </a:spcBef>
              </a:pPr>
              <a:r>
                <a:rPr lang="en-US" b="true" sz="3000" spc="-44">
                  <a:solidFill>
                    <a:srgbClr val="E6E6E6"/>
                  </a:solidFill>
                  <a:latin typeface="Helvetica World Bold"/>
                  <a:ea typeface="Helvetica World Bold"/>
                  <a:cs typeface="Helvetica World Bold"/>
                  <a:sym typeface="Helvetica World Bold"/>
                </a:rPr>
                <a:t>분류 정확도</a:t>
              </a:r>
            </a:p>
          </p:txBody>
        </p:sp>
        <p:sp>
          <p:nvSpPr>
            <p:cNvPr name="TextBox 18" id="18"/>
            <p:cNvSpPr txBox="true"/>
            <p:nvPr/>
          </p:nvSpPr>
          <p:spPr>
            <a:xfrm rot="0">
              <a:off x="0" y="1304714"/>
              <a:ext cx="9182100" cy="52281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249"/>
                </a:lnSpc>
                <a:spcBef>
                  <a:spcPct val="0"/>
                </a:spcBef>
              </a:pPr>
              <a:r>
                <a:rPr lang="en-US" sz="2499" spc="-37" strike="noStrike" u="none">
                  <a:solidFill>
                    <a:srgbClr val="E6E6E6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100% 정확도로 모든 품종 분류</a:t>
              </a:r>
            </a:p>
          </p:txBody>
        </p:sp>
      </p:grp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3B4C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7858125" cy="10287000"/>
            <a:chOff x="0" y="0"/>
            <a:chExt cx="1031988" cy="135096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031988" cy="1350966"/>
            </a:xfrm>
            <a:custGeom>
              <a:avLst/>
              <a:gdLst/>
              <a:ahLst/>
              <a:cxnLst/>
              <a:rect r="r" b="b" t="t" l="l"/>
              <a:pathLst>
                <a:path h="1350966" w="1031988">
                  <a:moveTo>
                    <a:pt x="0" y="0"/>
                  </a:moveTo>
                  <a:lnTo>
                    <a:pt x="1031988" y="0"/>
                  </a:lnTo>
                  <a:lnTo>
                    <a:pt x="1031988" y="1350966"/>
                  </a:lnTo>
                  <a:lnTo>
                    <a:pt x="0" y="1350966"/>
                  </a:lnTo>
                  <a:close/>
                </a:path>
              </a:pathLst>
            </a:custGeom>
            <a:solidFill>
              <a:srgbClr val="758A94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1052512" y="666750"/>
            <a:ext cx="5753100" cy="8953500"/>
            <a:chOff x="0" y="0"/>
            <a:chExt cx="814724" cy="1267949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814724" cy="1267949"/>
            </a:xfrm>
            <a:custGeom>
              <a:avLst/>
              <a:gdLst/>
              <a:ahLst/>
              <a:cxnLst/>
              <a:rect r="r" b="b" t="t" l="l"/>
              <a:pathLst>
                <a:path h="1267949" w="814724">
                  <a:moveTo>
                    <a:pt x="26914" y="0"/>
                  </a:moveTo>
                  <a:lnTo>
                    <a:pt x="787810" y="0"/>
                  </a:lnTo>
                  <a:cubicBezTo>
                    <a:pt x="802675" y="0"/>
                    <a:pt x="814724" y="12050"/>
                    <a:pt x="814724" y="26914"/>
                  </a:cubicBezTo>
                  <a:lnTo>
                    <a:pt x="814724" y="1241035"/>
                  </a:lnTo>
                  <a:cubicBezTo>
                    <a:pt x="814724" y="1255899"/>
                    <a:pt x="802675" y="1267949"/>
                    <a:pt x="787810" y="1267949"/>
                  </a:cubicBezTo>
                  <a:lnTo>
                    <a:pt x="26914" y="1267949"/>
                  </a:lnTo>
                  <a:cubicBezTo>
                    <a:pt x="12050" y="1267949"/>
                    <a:pt x="0" y="1255899"/>
                    <a:pt x="0" y="1241035"/>
                  </a:cubicBezTo>
                  <a:lnTo>
                    <a:pt x="0" y="26914"/>
                  </a:lnTo>
                  <a:cubicBezTo>
                    <a:pt x="0" y="12050"/>
                    <a:pt x="12050" y="0"/>
                    <a:pt x="26914" y="0"/>
                  </a:cubicBezTo>
                  <a:close/>
                </a:path>
              </a:pathLst>
            </a:custGeom>
            <a:blipFill>
              <a:blip r:embed="rId2"/>
              <a:stretch>
                <a:fillRect l="0" t="-199" r="0" b="-199"/>
              </a:stretch>
            </a:blipFill>
          </p:spPr>
        </p:sp>
      </p:grpSp>
      <p:sp>
        <p:nvSpPr>
          <p:cNvPr name="TextBox 6" id="6"/>
          <p:cNvSpPr txBox="true"/>
          <p:nvPr/>
        </p:nvSpPr>
        <p:spPr>
          <a:xfrm rot="0">
            <a:off x="9296400" y="9011285"/>
            <a:ext cx="8324850" cy="6089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940"/>
              </a:lnSpc>
            </a:pPr>
            <a:r>
              <a:rPr lang="en-US" sz="3800" spc="-57">
                <a:solidFill>
                  <a:srgbClr val="E6E6E6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데이터 기반 생물 탐구의 잠재력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9303759" y="942975"/>
            <a:ext cx="8317491" cy="19991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4956"/>
              </a:lnSpc>
            </a:pPr>
            <a:r>
              <a:rPr lang="en-US" sz="14956" spc="-523">
                <a:solidFill>
                  <a:srgbClr val="E6E6E6"/>
                </a:solidFill>
                <a:latin typeface="Georgia Pro Condensed"/>
                <a:ea typeface="Georgia Pro Condensed"/>
                <a:cs typeface="Georgia Pro Condensed"/>
                <a:sym typeface="Georgia Pro Condensed"/>
              </a:rPr>
              <a:t>탐구 결론</a:t>
            </a:r>
          </a:p>
        </p:txBody>
      </p:sp>
      <p:sp>
        <p:nvSpPr>
          <p:cNvPr name="Freeform 8" id="8"/>
          <p:cNvSpPr/>
          <p:nvPr/>
        </p:nvSpPr>
        <p:spPr>
          <a:xfrm flipH="false" flipV="false" rot="-3117037">
            <a:off x="5418783" y="7952721"/>
            <a:ext cx="2112604" cy="1859092"/>
          </a:xfrm>
          <a:custGeom>
            <a:avLst/>
            <a:gdLst/>
            <a:ahLst/>
            <a:cxnLst/>
            <a:rect r="r" b="b" t="t" l="l"/>
            <a:pathLst>
              <a:path h="1859092" w="2112604">
                <a:moveTo>
                  <a:pt x="0" y="0"/>
                </a:moveTo>
                <a:lnTo>
                  <a:pt x="2112604" y="0"/>
                </a:lnTo>
                <a:lnTo>
                  <a:pt x="2112604" y="1859092"/>
                </a:lnTo>
                <a:lnTo>
                  <a:pt x="0" y="185909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description>프레젠테이션 - ML을 활용한 붓꽃 분석</dc:description>
  <dc:identifier>DAHQ5Z_CK38</dc:identifier>
  <dcterms:modified xsi:type="dcterms:W3CDTF">2011-08-01T06:04:30Z</dcterms:modified>
  <cp:revision>1</cp:revision>
  <dc:title>프레젠테이션 - ML을 활용한 붓꽃 분석</dc:title>
</cp:coreProperties>
</file>