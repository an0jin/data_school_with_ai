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Source Han Sans KR Bold" charset="1" panose="020B0800000000000000"/>
      <p:regular r:id="rId12"/>
    </p:embeddedFont>
    <p:embeddedFont>
      <p:font typeface="Source Han Sans KR Medium" charset="1" panose="020B0600000000000000"/>
      <p:regular r:id="rId13"/>
    </p:embeddedFont>
    <p:embeddedFont>
      <p:font typeface="Source Han Sans KR" charset="1" panose="020B04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../media/image21.png" Type="http://schemas.openxmlformats.org/officeDocument/2006/relationships/image"/><Relationship Id="rId14" Target="../media/image22.pn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png" Type="http://schemas.openxmlformats.org/officeDocument/2006/relationships/image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4394144" cy="10287000"/>
          </a:xfrm>
          <a:custGeom>
            <a:avLst/>
            <a:gdLst/>
            <a:ahLst/>
            <a:cxnLst/>
            <a:rect r="r" b="b" t="t" l="l"/>
            <a:pathLst>
              <a:path h="10287000" w="14394144">
                <a:moveTo>
                  <a:pt x="0" y="0"/>
                </a:moveTo>
                <a:lnTo>
                  <a:pt x="14394144" y="0"/>
                </a:lnTo>
                <a:lnTo>
                  <a:pt x="1439414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36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76622" y="3858991"/>
            <a:ext cx="8936182" cy="6428009"/>
          </a:xfrm>
          <a:custGeom>
            <a:avLst/>
            <a:gdLst/>
            <a:ahLst/>
            <a:cxnLst/>
            <a:rect r="r" b="b" t="t" l="l"/>
            <a:pathLst>
              <a:path h="6428009" w="8936182">
                <a:moveTo>
                  <a:pt x="0" y="0"/>
                </a:moveTo>
                <a:lnTo>
                  <a:pt x="8936182" y="0"/>
                </a:lnTo>
                <a:lnTo>
                  <a:pt x="8936182" y="6428009"/>
                </a:lnTo>
                <a:lnTo>
                  <a:pt x="0" y="64280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47" t="-3401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1531" y="1115063"/>
            <a:ext cx="7503330" cy="9171937"/>
          </a:xfrm>
          <a:custGeom>
            <a:avLst/>
            <a:gdLst/>
            <a:ahLst/>
            <a:cxnLst/>
            <a:rect r="r" b="b" t="t" l="l"/>
            <a:pathLst>
              <a:path h="9171937" w="7503330">
                <a:moveTo>
                  <a:pt x="0" y="0"/>
                </a:moveTo>
                <a:lnTo>
                  <a:pt x="7503330" y="0"/>
                </a:lnTo>
                <a:lnTo>
                  <a:pt x="7503330" y="9171937"/>
                </a:lnTo>
                <a:lnTo>
                  <a:pt x="0" y="91719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28" t="-476" r="-102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66086" y="1659425"/>
            <a:ext cx="4474209" cy="101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4"/>
              </a:lnSpc>
            </a:pPr>
            <a:r>
              <a:rPr lang="en-US" sz="6960" b="true">
                <a:solidFill>
                  <a:srgbClr val="1B2C1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붓꽃(Iris)</a:t>
            </a:r>
            <a:r>
              <a:rPr lang="en-US" sz="6960" b="true">
                <a:solidFill>
                  <a:srgbClr val="7C947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의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2120" y="2834170"/>
            <a:ext cx="5870804" cy="101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4"/>
              </a:lnSpc>
            </a:pPr>
            <a:r>
              <a:rPr lang="en-US" sz="6960" b="true">
                <a:solidFill>
                  <a:srgbClr val="1B2C1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생물학적 특징과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7816" y="3993855"/>
            <a:ext cx="8301195" cy="101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4"/>
              </a:lnSpc>
            </a:pPr>
            <a:r>
              <a:rPr lang="en-US" sz="6960" b="true">
                <a:solidFill>
                  <a:srgbClr val="7C947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의사결정나무를 활용한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6324" y="5108357"/>
            <a:ext cx="4450434" cy="101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4"/>
              </a:lnSpc>
            </a:pPr>
            <a:r>
              <a:rPr lang="en-US" sz="6960" b="true">
                <a:solidFill>
                  <a:srgbClr val="1B2C1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종 분류 탐구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96900" y="6537328"/>
            <a:ext cx="4670440" cy="65592"/>
          </a:xfrm>
          <a:custGeom>
            <a:avLst/>
            <a:gdLst/>
            <a:ahLst/>
            <a:cxnLst/>
            <a:rect r="r" b="b" t="t" l="l"/>
            <a:pathLst>
              <a:path h="65592" w="4670440">
                <a:moveTo>
                  <a:pt x="0" y="0"/>
                </a:moveTo>
                <a:lnTo>
                  <a:pt x="4670440" y="0"/>
                </a:lnTo>
                <a:lnTo>
                  <a:pt x="4670440" y="65592"/>
                </a:lnTo>
                <a:lnTo>
                  <a:pt x="0" y="655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02" t="-166666" r="-2107" b="-6666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50854" y="6861602"/>
            <a:ext cx="5997385" cy="52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900" b="true">
                <a:solidFill>
                  <a:srgbClr val="1B2C1D">
                    <a:alpha val="89804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고등학교 생명과학 II  탐구수행평가 발표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6949" y="7509218"/>
            <a:ext cx="3387941" cy="52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900" b="true">
                <a:solidFill>
                  <a:srgbClr val="1B2C1D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2학년 생명과학 탐구반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3980" y="8171895"/>
            <a:ext cx="4684831" cy="52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900" b="true">
                <a:solidFill>
                  <a:srgbClr val="7C947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식물 분류와 데이터 분석의 만남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12708" y="0"/>
            <a:ext cx="10675292" cy="10287000"/>
          </a:xfrm>
          <a:custGeom>
            <a:avLst/>
            <a:gdLst/>
            <a:ahLst/>
            <a:cxnLst/>
            <a:rect r="r" b="b" t="t" l="l"/>
            <a:pathLst>
              <a:path h="10287000" w="10675292">
                <a:moveTo>
                  <a:pt x="0" y="0"/>
                </a:moveTo>
                <a:lnTo>
                  <a:pt x="10675292" y="0"/>
                </a:lnTo>
                <a:lnTo>
                  <a:pt x="106752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06488" y="0"/>
            <a:ext cx="9581512" cy="10287000"/>
          </a:xfrm>
          <a:custGeom>
            <a:avLst/>
            <a:gdLst/>
            <a:ahLst/>
            <a:cxnLst/>
            <a:rect r="r" b="b" t="t" l="l"/>
            <a:pathLst>
              <a:path h="10287000" w="9581512">
                <a:moveTo>
                  <a:pt x="0" y="0"/>
                </a:moveTo>
                <a:lnTo>
                  <a:pt x="9581512" y="0"/>
                </a:lnTo>
                <a:lnTo>
                  <a:pt x="95815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5408" y="1480001"/>
            <a:ext cx="6541966" cy="241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45"/>
              </a:lnSpc>
            </a:pPr>
            <a:r>
              <a:rPr lang="en-US" sz="6960" b="true">
                <a:solidFill>
                  <a:srgbClr val="2B4029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탐구 동기 — </a:t>
            </a:r>
          </a:p>
          <a:p>
            <a:pPr algn="l">
              <a:lnSpc>
                <a:spcPts val="9745"/>
              </a:lnSpc>
            </a:pPr>
            <a:r>
              <a:rPr lang="en-US" sz="6960" b="true">
                <a:solidFill>
                  <a:srgbClr val="2B4029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왜 </a:t>
            </a:r>
            <a:r>
              <a:rPr lang="en-US" sz="6960" b="true">
                <a:solidFill>
                  <a:srgbClr val="86A673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붓꽃</a:t>
            </a:r>
            <a:r>
              <a:rPr lang="en-US" sz="6960" b="true">
                <a:solidFill>
                  <a:srgbClr val="2B4029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이었을까?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96900" y="4503979"/>
            <a:ext cx="6792373" cy="43728"/>
          </a:xfrm>
          <a:custGeom>
            <a:avLst/>
            <a:gdLst/>
            <a:ahLst/>
            <a:cxnLst/>
            <a:rect r="r" b="b" t="t" l="l"/>
            <a:pathLst>
              <a:path h="43728" w="6792373">
                <a:moveTo>
                  <a:pt x="0" y="0"/>
                </a:moveTo>
                <a:lnTo>
                  <a:pt x="6792373" y="0"/>
                </a:lnTo>
                <a:lnTo>
                  <a:pt x="6792373" y="43728"/>
                </a:lnTo>
                <a:lnTo>
                  <a:pt x="0" y="437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3" t="-25000" r="-2254" b="-40000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9021" y="4994040"/>
            <a:ext cx="5180702" cy="11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900" b="true">
                <a:solidFill>
                  <a:srgbClr val="2B4029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화단에서 마주친 비슷한 봇꽃들을 </a:t>
            </a:r>
          </a:p>
          <a:p>
            <a:pPr algn="l">
              <a:lnSpc>
                <a:spcPts val="4639"/>
              </a:lnSpc>
            </a:pPr>
            <a:r>
              <a:rPr lang="en-US" sz="2900" b="true">
                <a:solidFill>
                  <a:srgbClr val="2B4029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명확하게 </a:t>
            </a:r>
            <a:r>
              <a:rPr lang="en-US" sz="2900" b="true">
                <a:solidFill>
                  <a:srgbClr val="86A673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구별하고 싶었습니다</a:t>
            </a:r>
            <a:r>
              <a:rPr lang="en-US" sz="2900" b="true">
                <a:solidFill>
                  <a:srgbClr val="2B4029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5288" y="6454942"/>
            <a:ext cx="5554029" cy="11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900" b="true">
                <a:solidFill>
                  <a:srgbClr val="2B4029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꽃받침과 꽃잎의 크기를 재어보면 </a:t>
            </a:r>
          </a:p>
          <a:p>
            <a:pPr algn="l">
              <a:lnSpc>
                <a:spcPts val="4639"/>
              </a:lnSpc>
            </a:pPr>
            <a:r>
              <a:rPr lang="en-US" sz="2900" b="true">
                <a:solidFill>
                  <a:srgbClr val="2B4029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종마다 </a:t>
            </a:r>
            <a:r>
              <a:rPr lang="en-US" sz="2900" b="true">
                <a:solidFill>
                  <a:srgbClr val="86A673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차이가</a:t>
            </a:r>
            <a:r>
              <a:rPr lang="en-US" sz="2900" b="true">
                <a:solidFill>
                  <a:srgbClr val="2B4029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있을지 궁금했습니다.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3220" y="7915843"/>
            <a:ext cx="6760855" cy="11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900" b="true">
                <a:solidFill>
                  <a:srgbClr val="2B4029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눈대중이 아닌 </a:t>
            </a:r>
            <a:r>
              <a:rPr lang="en-US" sz="2900" b="true">
                <a:solidFill>
                  <a:srgbClr val="86A673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데이터를</a:t>
            </a:r>
            <a:r>
              <a:rPr lang="en-US" sz="2900" b="true">
                <a:solidFill>
                  <a:srgbClr val="2B4029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바탕으로 </a:t>
            </a:r>
          </a:p>
          <a:p>
            <a:pPr algn="l">
              <a:lnSpc>
                <a:spcPts val="4639"/>
              </a:lnSpc>
            </a:pPr>
            <a:r>
              <a:rPr lang="en-US" sz="2900" b="true">
                <a:solidFill>
                  <a:srgbClr val="2B4029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분류 기준을 찾기 위해 탐구를 시작했습니다.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79914" y="568463"/>
            <a:ext cx="6858000" cy="7707051"/>
          </a:xfrm>
          <a:custGeom>
            <a:avLst/>
            <a:gdLst/>
            <a:ahLst/>
            <a:cxnLst/>
            <a:rect r="r" b="b" t="t" l="l"/>
            <a:pathLst>
              <a:path h="7707051" w="6858000">
                <a:moveTo>
                  <a:pt x="0" y="0"/>
                </a:moveTo>
                <a:lnTo>
                  <a:pt x="6858000" y="0"/>
                </a:lnTo>
                <a:lnTo>
                  <a:pt x="6858000" y="7707051"/>
                </a:lnTo>
                <a:lnTo>
                  <a:pt x="0" y="77070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9" t="-1843" r="-1594" b="-113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5370" y="764033"/>
            <a:ext cx="5509105" cy="2988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9"/>
              </a:lnSpc>
            </a:pPr>
            <a:r>
              <a:rPr lang="en-US" sz="6108" b="true">
                <a:solidFill>
                  <a:srgbClr val="38493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배경 지식 — </a:t>
            </a:r>
          </a:p>
          <a:p>
            <a:pPr algn="l">
              <a:lnSpc>
                <a:spcPts val="7939"/>
              </a:lnSpc>
            </a:pPr>
            <a:r>
              <a:rPr lang="en-US" sz="6108" b="true">
                <a:solidFill>
                  <a:srgbClr val="38493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꽃받침과 꽃잎의 </a:t>
            </a:r>
          </a:p>
          <a:p>
            <a:pPr algn="l">
              <a:lnSpc>
                <a:spcPts val="7939"/>
              </a:lnSpc>
            </a:pPr>
            <a:r>
              <a:rPr lang="en-US" sz="6108" b="true">
                <a:solidFill>
                  <a:srgbClr val="A3B68A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서로 다른</a:t>
            </a:r>
            <a:r>
              <a:rPr lang="en-US" sz="6108" b="true">
                <a:solidFill>
                  <a:srgbClr val="38493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역할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4230679"/>
            <a:ext cx="6606431" cy="43728"/>
          </a:xfrm>
          <a:custGeom>
            <a:avLst/>
            <a:gdLst/>
            <a:ahLst/>
            <a:cxnLst/>
            <a:rect r="r" b="b" t="t" l="l"/>
            <a:pathLst>
              <a:path h="43728" w="6606431">
                <a:moveTo>
                  <a:pt x="0" y="0"/>
                </a:moveTo>
                <a:lnTo>
                  <a:pt x="6606431" y="0"/>
                </a:lnTo>
                <a:lnTo>
                  <a:pt x="6606431" y="43728"/>
                </a:lnTo>
                <a:lnTo>
                  <a:pt x="0" y="437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11" t="-374999" r="-2317" b="-5000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35846" y="4496568"/>
            <a:ext cx="4819352" cy="947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900" b="true">
                <a:solidFill>
                  <a:srgbClr val="3849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꽃받침은 꽃봉오리를 감싸 보호하고 </a:t>
            </a:r>
          </a:p>
          <a:p>
            <a:pPr algn="l">
              <a:lnSpc>
                <a:spcPts val="4639"/>
              </a:lnSpc>
            </a:pPr>
            <a:r>
              <a:rPr lang="en-US" sz="2900" b="true">
                <a:solidFill>
                  <a:srgbClr val="3849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광합성을 돕습니다.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7910" y="5716497"/>
            <a:ext cx="3612874" cy="947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900" b="true">
                <a:solidFill>
                  <a:srgbClr val="3849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꽃잎은 화려한 색과 크기로 </a:t>
            </a:r>
          </a:p>
          <a:p>
            <a:pPr algn="l">
              <a:lnSpc>
                <a:spcPts val="4639"/>
              </a:lnSpc>
            </a:pPr>
            <a:r>
              <a:rPr lang="en-US" sz="2900" b="true">
                <a:solidFill>
                  <a:srgbClr val="3849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곤충을 불러 모읍니다.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7583" y="6906303"/>
            <a:ext cx="4645593" cy="947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900" b="true">
                <a:solidFill>
                  <a:srgbClr val="3849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생물 검색표는 예/아니오 질문으로 </a:t>
            </a:r>
          </a:p>
          <a:p>
            <a:pPr algn="l">
              <a:lnSpc>
                <a:spcPts val="4639"/>
              </a:lnSpc>
            </a:pPr>
            <a:r>
              <a:rPr lang="en-US" sz="2900" b="true">
                <a:solidFill>
                  <a:srgbClr val="3849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종을 찾아가는 분류 방식입니다.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64086" y="8242718"/>
            <a:ext cx="16559828" cy="1760050"/>
          </a:xfrm>
          <a:custGeom>
            <a:avLst/>
            <a:gdLst/>
            <a:ahLst/>
            <a:cxnLst/>
            <a:rect r="r" b="b" t="t" l="l"/>
            <a:pathLst>
              <a:path h="1760050" w="16559828">
                <a:moveTo>
                  <a:pt x="0" y="0"/>
                </a:moveTo>
                <a:lnTo>
                  <a:pt x="16559828" y="0"/>
                </a:lnTo>
                <a:lnTo>
                  <a:pt x="16559828" y="1760050"/>
                </a:lnTo>
                <a:lnTo>
                  <a:pt x="0" y="17600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21" t="-6211" r="0" b="-434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41501" y="8382212"/>
            <a:ext cx="1758451" cy="525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900" b="true">
                <a:solidFill>
                  <a:srgbClr val="38493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생물 검색표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1498" y="8972262"/>
            <a:ext cx="2758795" cy="77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 b="true">
                <a:solidFill>
                  <a:srgbClr val="3849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예/아니오 질문으로 </a:t>
            </a:r>
          </a:p>
          <a:p>
            <a:pPr algn="l">
              <a:lnSpc>
                <a:spcPts val="3210"/>
              </a:lnSpc>
            </a:pPr>
            <a:r>
              <a:rPr lang="en-US" sz="2140" b="true">
                <a:solidFill>
                  <a:srgbClr val="3849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종을 찾아가는 분류 방식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976699" y="8537882"/>
            <a:ext cx="2209435" cy="1180655"/>
          </a:xfrm>
          <a:custGeom>
            <a:avLst/>
            <a:gdLst/>
            <a:ahLst/>
            <a:cxnLst/>
            <a:rect r="r" b="b" t="t" l="l"/>
            <a:pathLst>
              <a:path h="1180655" w="2209435">
                <a:moveTo>
                  <a:pt x="0" y="0"/>
                </a:moveTo>
                <a:lnTo>
                  <a:pt x="2209435" y="0"/>
                </a:lnTo>
                <a:lnTo>
                  <a:pt x="2209435" y="1180655"/>
                </a:lnTo>
                <a:lnTo>
                  <a:pt x="0" y="11806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910" t="-15740" r="0" b="-12037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585587" y="8593487"/>
            <a:ext cx="903192" cy="496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9"/>
              </a:lnSpc>
            </a:pPr>
            <a:r>
              <a:rPr lang="en-US" sz="2900" b="true">
                <a:solidFill>
                  <a:srgbClr val="38493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질문 1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448641" y="9106345"/>
            <a:ext cx="601579" cy="163980"/>
          </a:xfrm>
          <a:custGeom>
            <a:avLst/>
            <a:gdLst/>
            <a:ahLst/>
            <a:cxnLst/>
            <a:rect r="r" b="b" t="t" l="l"/>
            <a:pathLst>
              <a:path h="163980" w="601579">
                <a:moveTo>
                  <a:pt x="0" y="0"/>
                </a:moveTo>
                <a:lnTo>
                  <a:pt x="601579" y="0"/>
                </a:lnTo>
                <a:lnTo>
                  <a:pt x="601579" y="163980"/>
                </a:lnTo>
                <a:lnTo>
                  <a:pt x="0" y="163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090" t="-66666" r="-1818" b="-10000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268976" y="8537882"/>
            <a:ext cx="2253187" cy="1180655"/>
          </a:xfrm>
          <a:custGeom>
            <a:avLst/>
            <a:gdLst/>
            <a:ahLst/>
            <a:cxnLst/>
            <a:rect r="r" b="b" t="t" l="l"/>
            <a:pathLst>
              <a:path h="1180655" w="2253187">
                <a:moveTo>
                  <a:pt x="0" y="0"/>
                </a:moveTo>
                <a:lnTo>
                  <a:pt x="2253187" y="0"/>
                </a:lnTo>
                <a:lnTo>
                  <a:pt x="2253187" y="1180655"/>
                </a:lnTo>
                <a:lnTo>
                  <a:pt x="0" y="11806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5740" r="-6796" b="-12037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740919" y="9106345"/>
            <a:ext cx="601579" cy="174912"/>
          </a:xfrm>
          <a:custGeom>
            <a:avLst/>
            <a:gdLst/>
            <a:ahLst/>
            <a:cxnLst/>
            <a:rect r="r" b="b" t="t" l="l"/>
            <a:pathLst>
              <a:path h="174912" w="601579">
                <a:moveTo>
                  <a:pt x="0" y="0"/>
                </a:moveTo>
                <a:lnTo>
                  <a:pt x="601579" y="0"/>
                </a:lnTo>
                <a:lnTo>
                  <a:pt x="601579" y="174912"/>
                </a:lnTo>
                <a:lnTo>
                  <a:pt x="0" y="1749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2727" t="-62500" r="-32727" b="-8749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572191" y="8537882"/>
            <a:ext cx="2242249" cy="1180655"/>
          </a:xfrm>
          <a:custGeom>
            <a:avLst/>
            <a:gdLst/>
            <a:ahLst/>
            <a:cxnLst/>
            <a:rect r="r" b="b" t="t" l="l"/>
            <a:pathLst>
              <a:path h="1180655" w="2242249">
                <a:moveTo>
                  <a:pt x="0" y="0"/>
                </a:moveTo>
                <a:lnTo>
                  <a:pt x="2242249" y="0"/>
                </a:lnTo>
                <a:lnTo>
                  <a:pt x="2242249" y="1180655"/>
                </a:lnTo>
                <a:lnTo>
                  <a:pt x="0" y="11806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951" t="-15740" r="-5365" b="-12037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769381" y="9123059"/>
            <a:ext cx="1780632" cy="363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 b="true">
                <a:solidFill>
                  <a:srgbClr val="3849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특징을 확인한다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055072" y="9106345"/>
            <a:ext cx="601579" cy="174912"/>
          </a:xfrm>
          <a:custGeom>
            <a:avLst/>
            <a:gdLst/>
            <a:ahLst/>
            <a:cxnLst/>
            <a:rect r="r" b="b" t="t" l="l"/>
            <a:pathLst>
              <a:path h="174912" w="601579">
                <a:moveTo>
                  <a:pt x="0" y="0"/>
                </a:moveTo>
                <a:lnTo>
                  <a:pt x="601579" y="0"/>
                </a:lnTo>
                <a:lnTo>
                  <a:pt x="601579" y="174912"/>
                </a:lnTo>
                <a:lnTo>
                  <a:pt x="0" y="174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1818" t="-62500" r="-25454" b="-87499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875407" y="8537882"/>
            <a:ext cx="2209435" cy="1180655"/>
          </a:xfrm>
          <a:custGeom>
            <a:avLst/>
            <a:gdLst/>
            <a:ahLst/>
            <a:cxnLst/>
            <a:rect r="r" b="b" t="t" l="l"/>
            <a:pathLst>
              <a:path h="1180655" w="2209435">
                <a:moveTo>
                  <a:pt x="0" y="0"/>
                </a:moveTo>
                <a:lnTo>
                  <a:pt x="2209435" y="0"/>
                </a:lnTo>
                <a:lnTo>
                  <a:pt x="2209435" y="1180655"/>
                </a:lnTo>
                <a:lnTo>
                  <a:pt x="0" y="118065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465" t="-15740" r="-5445" b="-12037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441261" y="8593487"/>
            <a:ext cx="1015751" cy="496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9"/>
              </a:lnSpc>
            </a:pPr>
            <a:r>
              <a:rPr lang="en-US" sz="2900" b="tru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종 확인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1812823" y="2164533"/>
            <a:ext cx="2996957" cy="163980"/>
          </a:xfrm>
          <a:custGeom>
            <a:avLst/>
            <a:gdLst/>
            <a:ahLst/>
            <a:cxnLst/>
            <a:rect r="r" b="b" t="t" l="l"/>
            <a:pathLst>
              <a:path h="163980" w="2996957">
                <a:moveTo>
                  <a:pt x="0" y="0"/>
                </a:moveTo>
                <a:lnTo>
                  <a:pt x="2996957" y="0"/>
                </a:lnTo>
                <a:lnTo>
                  <a:pt x="2996957" y="163980"/>
                </a:lnTo>
                <a:lnTo>
                  <a:pt x="0" y="1639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189" t="-13333" r="0" b="-2000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089783" y="2541283"/>
            <a:ext cx="1924871" cy="77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 b="true">
                <a:solidFill>
                  <a:srgbClr val="3849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곤충을 유인하는 </a:t>
            </a:r>
          </a:p>
          <a:p>
            <a:pPr algn="l">
              <a:lnSpc>
                <a:spcPts val="3210"/>
              </a:lnSpc>
            </a:pPr>
            <a:r>
              <a:rPr lang="en-US" sz="2140" b="true">
                <a:solidFill>
                  <a:srgbClr val="3849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핵심 기관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1780010" y="5783021"/>
            <a:ext cx="3029770" cy="131184"/>
          </a:xfrm>
          <a:custGeom>
            <a:avLst/>
            <a:gdLst/>
            <a:ahLst/>
            <a:cxnLst/>
            <a:rect r="r" b="b" t="t" l="l"/>
            <a:pathLst>
              <a:path h="131184" w="3029770">
                <a:moveTo>
                  <a:pt x="0" y="0"/>
                </a:moveTo>
                <a:lnTo>
                  <a:pt x="3029770" y="0"/>
                </a:lnTo>
                <a:lnTo>
                  <a:pt x="3029770" y="131184"/>
                </a:lnTo>
                <a:lnTo>
                  <a:pt x="0" y="13118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083" t="0" r="0" b="-66666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5098977" y="5520652"/>
            <a:ext cx="1005454" cy="525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900" b="true">
                <a:solidFill>
                  <a:srgbClr val="38493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꽃받침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087212" y="6140824"/>
            <a:ext cx="2181893" cy="77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 b="true">
                <a:solidFill>
                  <a:srgbClr val="3849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봉오리를 보호하고 </a:t>
            </a:r>
          </a:p>
          <a:p>
            <a:pPr algn="l">
              <a:lnSpc>
                <a:spcPts val="3210"/>
              </a:lnSpc>
            </a:pPr>
            <a:r>
              <a:rPr lang="en-US" sz="2140" b="true">
                <a:solidFill>
                  <a:srgbClr val="3849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광합성을 돕는 기관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79272" y="9123059"/>
            <a:ext cx="1780632" cy="363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 b="true">
                <a:solidFill>
                  <a:srgbClr val="3849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특징을 확인한다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474326" y="9123059"/>
            <a:ext cx="1780632" cy="363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140" b="true">
                <a:solidFill>
                  <a:srgbClr val="3849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특징을 확인한다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427503" y="9123059"/>
            <a:ext cx="1043266" cy="363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2140" b="true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결과 도출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880642" y="8593487"/>
            <a:ext cx="903192" cy="496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9"/>
              </a:lnSpc>
            </a:pPr>
            <a:r>
              <a:rPr lang="en-US" sz="2900" b="true">
                <a:solidFill>
                  <a:srgbClr val="38493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질문 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56064" y="8593487"/>
            <a:ext cx="903192" cy="496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9"/>
              </a:lnSpc>
            </a:pPr>
            <a:r>
              <a:rPr lang="en-US" sz="2900" b="true">
                <a:solidFill>
                  <a:srgbClr val="38493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질문 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102328" y="1921111"/>
            <a:ext cx="670302" cy="525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900" b="true">
                <a:solidFill>
                  <a:srgbClr val="38493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꽃잎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599053" y="8671234"/>
            <a:ext cx="245789" cy="363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2140" b="true">
                <a:solidFill>
                  <a:srgbClr val="3849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예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94108" y="8671234"/>
            <a:ext cx="245789" cy="363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2140" b="true">
                <a:solidFill>
                  <a:srgbClr val="3849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예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215951" y="8671234"/>
            <a:ext cx="245789" cy="363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2140" b="true">
                <a:solidFill>
                  <a:srgbClr val="384931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예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50258" y="1311838"/>
            <a:ext cx="8837742" cy="7892895"/>
          </a:xfrm>
          <a:custGeom>
            <a:avLst/>
            <a:gdLst/>
            <a:ahLst/>
            <a:cxnLst/>
            <a:rect r="r" b="b" t="t" l="l"/>
            <a:pathLst>
              <a:path h="7892895" w="8837742">
                <a:moveTo>
                  <a:pt x="0" y="0"/>
                </a:moveTo>
                <a:lnTo>
                  <a:pt x="8837742" y="0"/>
                </a:lnTo>
                <a:lnTo>
                  <a:pt x="8837742" y="7892895"/>
                </a:lnTo>
                <a:lnTo>
                  <a:pt x="0" y="78928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13" t="-415" r="0" b="-13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7574" y="863947"/>
            <a:ext cx="10646519" cy="1944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3"/>
              </a:lnSpc>
            </a:pPr>
            <a:r>
              <a:rPr lang="en-US" sz="6003" b="true">
                <a:solidFill>
                  <a:srgbClr val="2F442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탐구 방법 — </a:t>
            </a:r>
          </a:p>
          <a:p>
            <a:pPr algn="l">
              <a:lnSpc>
                <a:spcPts val="7803"/>
              </a:lnSpc>
            </a:pPr>
            <a:r>
              <a:rPr lang="en-US" sz="6003" b="true">
                <a:solidFill>
                  <a:srgbClr val="2F442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 준비와 의사결정나무 학습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96900" y="3246800"/>
            <a:ext cx="10150278" cy="43728"/>
          </a:xfrm>
          <a:custGeom>
            <a:avLst/>
            <a:gdLst/>
            <a:ahLst/>
            <a:cxnLst/>
            <a:rect r="r" b="b" t="t" l="l"/>
            <a:pathLst>
              <a:path h="43728" w="10150278">
                <a:moveTo>
                  <a:pt x="0" y="0"/>
                </a:moveTo>
                <a:lnTo>
                  <a:pt x="10150277" y="0"/>
                </a:lnTo>
                <a:lnTo>
                  <a:pt x="10150277" y="43728"/>
                </a:lnTo>
                <a:lnTo>
                  <a:pt x="0" y="437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3" t="-75000" r="-646" b="-32500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4643" y="3618786"/>
            <a:ext cx="5939628" cy="1164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1"/>
              </a:lnSpc>
            </a:pPr>
            <a:r>
              <a:rPr lang="en-US" sz="2871">
                <a:solidFill>
                  <a:srgbClr val="2F442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봇꽃 3종(세토사, 버시칼라, 버지니카) </a:t>
            </a:r>
          </a:p>
          <a:p>
            <a:pPr algn="l">
              <a:lnSpc>
                <a:spcPts val="4881"/>
              </a:lnSpc>
            </a:pPr>
            <a:r>
              <a:rPr lang="en-US" sz="2871">
                <a:solidFill>
                  <a:srgbClr val="2F442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총 </a:t>
            </a:r>
            <a:r>
              <a:rPr lang="en-US" sz="2871" b="true">
                <a:solidFill>
                  <a:srgbClr val="7E986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150승이</a:t>
            </a:r>
            <a:r>
              <a:rPr lang="en-US" sz="2871">
                <a:solidFill>
                  <a:srgbClr val="2F442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데이터를 수집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1996" y="5139931"/>
            <a:ext cx="5204339" cy="1164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1"/>
              </a:lnSpc>
            </a:pPr>
            <a:r>
              <a:rPr lang="en-US" sz="2871">
                <a:solidFill>
                  <a:srgbClr val="2F442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꽃받침 길이·너비, 꽃잎 길이·너비 </a:t>
            </a:r>
          </a:p>
          <a:p>
            <a:pPr algn="l">
              <a:lnSpc>
                <a:spcPts val="4881"/>
              </a:lnSpc>
            </a:pPr>
            <a:r>
              <a:rPr lang="en-US" sz="2871" b="true">
                <a:solidFill>
                  <a:srgbClr val="7E986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4가지 특징</a:t>
            </a:r>
            <a:r>
              <a:rPr lang="en-US" sz="2871">
                <a:solidFill>
                  <a:srgbClr val="2F442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을 측정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67206" y="6799696"/>
            <a:ext cx="8793990" cy="2405037"/>
          </a:xfrm>
          <a:custGeom>
            <a:avLst/>
            <a:gdLst/>
            <a:ahLst/>
            <a:cxnLst/>
            <a:rect r="r" b="b" t="t" l="l"/>
            <a:pathLst>
              <a:path h="2405037" w="8793990">
                <a:moveTo>
                  <a:pt x="0" y="0"/>
                </a:moveTo>
                <a:lnTo>
                  <a:pt x="8793990" y="0"/>
                </a:lnTo>
                <a:lnTo>
                  <a:pt x="8793990" y="2405037"/>
                </a:lnTo>
                <a:lnTo>
                  <a:pt x="0" y="24050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8" t="-6818" r="-1368" b="-45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78144" y="6799696"/>
            <a:ext cx="229694" cy="2405037"/>
          </a:xfrm>
          <a:custGeom>
            <a:avLst/>
            <a:gdLst/>
            <a:ahLst/>
            <a:cxnLst/>
            <a:rect r="r" b="b" t="t" l="l"/>
            <a:pathLst>
              <a:path h="2405037" w="229694">
                <a:moveTo>
                  <a:pt x="0" y="0"/>
                </a:moveTo>
                <a:lnTo>
                  <a:pt x="229693" y="0"/>
                </a:lnTo>
                <a:lnTo>
                  <a:pt x="229693" y="2405037"/>
                </a:lnTo>
                <a:lnTo>
                  <a:pt x="0" y="24050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285" t="-6818" r="-80952" b="-454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97051" y="7103904"/>
            <a:ext cx="6203505" cy="57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2970" b="true">
                <a:solidFill>
                  <a:srgbClr val="2F442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120개</a:t>
            </a:r>
            <a:r>
              <a:rPr lang="en-US" sz="2970">
                <a:solidFill>
                  <a:srgbClr val="2F442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로 학습하고 </a:t>
            </a:r>
            <a:r>
              <a:rPr lang="en-US" sz="2970" b="true">
                <a:solidFill>
                  <a:srgbClr val="2F442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30</a:t>
            </a:r>
            <a:r>
              <a:rPr lang="en-US" sz="2970">
                <a:solidFill>
                  <a:srgbClr val="2F442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개로 시험한 결과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1558" y="7895702"/>
            <a:ext cx="2752763" cy="85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1"/>
              </a:lnSpc>
            </a:pPr>
            <a:r>
              <a:rPr lang="en-US" sz="4376" b="true">
                <a:solidFill>
                  <a:srgbClr val="2F442D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분류 정확도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78397" y="7423473"/>
            <a:ext cx="2748608" cy="149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34"/>
              </a:lnSpc>
            </a:pPr>
            <a:r>
              <a:rPr lang="en-US" sz="6960" b="true">
                <a:solidFill>
                  <a:srgbClr val="7E986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100%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47664" y="7895702"/>
            <a:ext cx="1217153" cy="85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1"/>
              </a:lnSpc>
            </a:pPr>
            <a:r>
              <a:rPr lang="en-US" sz="4376" b="true">
                <a:solidFill>
                  <a:srgbClr val="2F442D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달성!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58077" y="4296271"/>
            <a:ext cx="8629923" cy="5990729"/>
          </a:xfrm>
          <a:custGeom>
            <a:avLst/>
            <a:gdLst/>
            <a:ahLst/>
            <a:cxnLst/>
            <a:rect r="r" b="b" t="t" l="l"/>
            <a:pathLst>
              <a:path h="5990729" w="8629923">
                <a:moveTo>
                  <a:pt x="0" y="0"/>
                </a:moveTo>
                <a:lnTo>
                  <a:pt x="8629923" y="0"/>
                </a:lnTo>
                <a:lnTo>
                  <a:pt x="8629923" y="5990729"/>
                </a:lnTo>
                <a:lnTo>
                  <a:pt x="0" y="5990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13" t="-182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5962" y="3093752"/>
            <a:ext cx="10008086" cy="54660"/>
          </a:xfrm>
          <a:custGeom>
            <a:avLst/>
            <a:gdLst/>
            <a:ahLst/>
            <a:cxnLst/>
            <a:rect r="r" b="b" t="t" l="l"/>
            <a:pathLst>
              <a:path h="54660" w="10008086">
                <a:moveTo>
                  <a:pt x="0" y="0"/>
                </a:moveTo>
                <a:lnTo>
                  <a:pt x="10008086" y="0"/>
                </a:lnTo>
                <a:lnTo>
                  <a:pt x="10008086" y="54660"/>
                </a:lnTo>
                <a:lnTo>
                  <a:pt x="0" y="54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8" t="-180000" r="0" b="-14000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9614" y="3472262"/>
            <a:ext cx="8906578" cy="6672511"/>
          </a:xfrm>
          <a:custGeom>
            <a:avLst/>
            <a:gdLst/>
            <a:ahLst/>
            <a:cxnLst/>
            <a:rect r="r" b="b" t="t" l="l"/>
            <a:pathLst>
              <a:path h="6672511" w="8906578">
                <a:moveTo>
                  <a:pt x="0" y="0"/>
                </a:moveTo>
                <a:lnTo>
                  <a:pt x="8906577" y="0"/>
                </a:lnTo>
                <a:lnTo>
                  <a:pt x="8906577" y="6672512"/>
                </a:lnTo>
                <a:lnTo>
                  <a:pt x="0" y="66725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7694" y="526460"/>
            <a:ext cx="3955555" cy="105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1"/>
              </a:lnSpc>
            </a:pPr>
            <a:r>
              <a:rPr lang="en-US" sz="6222" spc="-124" b="true">
                <a:solidFill>
                  <a:srgbClr val="384D3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탐구 결과 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3466" y="1570416"/>
            <a:ext cx="4378398" cy="120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45"/>
              </a:lnSpc>
            </a:pPr>
            <a:r>
              <a:rPr lang="en-US" sz="6960" spc="-139" b="true">
                <a:solidFill>
                  <a:srgbClr val="384D3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AI가 찾아낸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55342" y="1570416"/>
            <a:ext cx="7036142" cy="120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45"/>
              </a:lnSpc>
            </a:pPr>
            <a:r>
              <a:rPr lang="en-US" sz="6960" spc="-139" b="true">
                <a:solidFill>
                  <a:srgbClr val="829F6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스무고개</a:t>
            </a:r>
            <a:r>
              <a:rPr lang="en-US" sz="6960" spc="-139" b="true">
                <a:solidFill>
                  <a:srgbClr val="384D3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분류 규칙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52060" y="5098833"/>
            <a:ext cx="2816758" cy="49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3254" spc="-65" b="true">
                <a:solidFill>
                  <a:srgbClr val="384D3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상위 분류 기준을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59841" y="5791631"/>
            <a:ext cx="2000312" cy="49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3254" spc="-65" b="true">
                <a:solidFill>
                  <a:srgbClr val="384D3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결정한 것은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56016" y="6469369"/>
            <a:ext cx="2382782" cy="49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3254" spc="-65" b="true">
                <a:solidFill>
                  <a:srgbClr val="384D3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꽃받침이 아닌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46504" y="7017651"/>
            <a:ext cx="3333968" cy="99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1"/>
              </a:lnSpc>
            </a:pPr>
            <a:r>
              <a:rPr lang="en-US" sz="6222" spc="-124" b="true">
                <a:solidFill>
                  <a:srgbClr val="829F6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모두 ‘꽃잎’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59233" y="8216427"/>
            <a:ext cx="2061084" cy="49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3254" spc="-65" b="true">
                <a:solidFill>
                  <a:srgbClr val="384D31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이었습니다!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98708" y="0"/>
            <a:ext cx="8389292" cy="10287000"/>
          </a:xfrm>
          <a:custGeom>
            <a:avLst/>
            <a:gdLst/>
            <a:ahLst/>
            <a:cxnLst/>
            <a:rect r="r" b="b" t="t" l="l"/>
            <a:pathLst>
              <a:path h="10287000" w="8389292">
                <a:moveTo>
                  <a:pt x="0" y="0"/>
                </a:moveTo>
                <a:lnTo>
                  <a:pt x="8389292" y="0"/>
                </a:lnTo>
                <a:lnTo>
                  <a:pt x="83892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03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6507" y="846139"/>
            <a:ext cx="5074307" cy="94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4"/>
              </a:lnSpc>
            </a:pPr>
            <a:r>
              <a:rPr lang="en-US" sz="6960" b="true">
                <a:solidFill>
                  <a:srgbClr val="2F442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고찰 및 결론 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1151" y="2020885"/>
            <a:ext cx="9609945" cy="94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4"/>
              </a:lnSpc>
            </a:pPr>
            <a:r>
              <a:rPr lang="en-US" sz="6960" b="true">
                <a:solidFill>
                  <a:srgbClr val="2F442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데이터로 확인한 생물의 </a:t>
            </a:r>
            <a:r>
              <a:rPr lang="en-US" sz="6960" b="true">
                <a:solidFill>
                  <a:srgbClr val="7C966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지혜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3421712"/>
            <a:ext cx="9647139" cy="43728"/>
          </a:xfrm>
          <a:custGeom>
            <a:avLst/>
            <a:gdLst/>
            <a:ahLst/>
            <a:cxnLst/>
            <a:rect r="r" b="b" t="t" l="l"/>
            <a:pathLst>
              <a:path h="43728" w="9647139">
                <a:moveTo>
                  <a:pt x="0" y="0"/>
                </a:moveTo>
                <a:lnTo>
                  <a:pt x="9647139" y="0"/>
                </a:lnTo>
                <a:lnTo>
                  <a:pt x="9647139" y="43728"/>
                </a:lnTo>
                <a:lnTo>
                  <a:pt x="0" y="437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67" t="-475000" r="-1700" b="-42500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3148" y="4001107"/>
            <a:ext cx="1203158" cy="1158791"/>
          </a:xfrm>
          <a:custGeom>
            <a:avLst/>
            <a:gdLst/>
            <a:ahLst/>
            <a:cxnLst/>
            <a:rect r="r" b="b" t="t" l="l"/>
            <a:pathLst>
              <a:path h="1158791" w="1203158">
                <a:moveTo>
                  <a:pt x="0" y="0"/>
                </a:moveTo>
                <a:lnTo>
                  <a:pt x="1203158" y="0"/>
                </a:lnTo>
                <a:lnTo>
                  <a:pt x="1203158" y="1158791"/>
                </a:lnTo>
                <a:lnTo>
                  <a:pt x="0" y="11587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272" t="-13207" r="-10909" b="-1792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85551" y="4345791"/>
            <a:ext cx="531225" cy="49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5"/>
              </a:lnSpc>
            </a:pPr>
            <a:r>
              <a:rPr lang="en-US" sz="3254" b="true">
                <a:solidFill>
                  <a:srgbClr val="415B3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80485" y="4009074"/>
            <a:ext cx="4484304" cy="96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453" b="true">
                <a:solidFill>
                  <a:srgbClr val="2F2F2C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식물의 형태는 환경과 곤충에 맞춘 </a:t>
            </a:r>
          </a:p>
          <a:p>
            <a:pPr algn="l">
              <a:lnSpc>
                <a:spcPts val="4049"/>
              </a:lnSpc>
            </a:pPr>
            <a:r>
              <a:rPr lang="en-US" sz="2453" b="true">
                <a:solidFill>
                  <a:srgbClr val="2F2F2C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적응의 결과입니다.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4086" y="5247354"/>
            <a:ext cx="7098632" cy="43728"/>
          </a:xfrm>
          <a:custGeom>
            <a:avLst/>
            <a:gdLst/>
            <a:ahLst/>
            <a:cxnLst/>
            <a:rect r="r" b="b" t="t" l="l"/>
            <a:pathLst>
              <a:path h="43728" w="7098632">
                <a:moveTo>
                  <a:pt x="0" y="0"/>
                </a:moveTo>
                <a:lnTo>
                  <a:pt x="7098632" y="0"/>
                </a:lnTo>
                <a:lnTo>
                  <a:pt x="7098632" y="43728"/>
                </a:lnTo>
                <a:lnTo>
                  <a:pt x="0" y="437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081" t="-250000" r="-1386" b="-17500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53148" y="5487858"/>
            <a:ext cx="1203158" cy="1180655"/>
          </a:xfrm>
          <a:custGeom>
            <a:avLst/>
            <a:gdLst/>
            <a:ahLst/>
            <a:cxnLst/>
            <a:rect r="r" b="b" t="t" l="l"/>
            <a:pathLst>
              <a:path h="1180655" w="1203158">
                <a:moveTo>
                  <a:pt x="0" y="0"/>
                </a:moveTo>
                <a:lnTo>
                  <a:pt x="1203158" y="0"/>
                </a:lnTo>
                <a:lnTo>
                  <a:pt x="1203158" y="1180654"/>
                </a:lnTo>
                <a:lnTo>
                  <a:pt x="0" y="11806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7272" t="-11111" r="-10909" b="-16666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85551" y="5836814"/>
            <a:ext cx="531225" cy="49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5"/>
              </a:lnSpc>
            </a:pPr>
            <a:r>
              <a:rPr lang="en-US" sz="3254" b="true">
                <a:solidFill>
                  <a:srgbClr val="415B3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74360" y="5515158"/>
            <a:ext cx="5096833" cy="96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453" b="true">
                <a:solidFill>
                  <a:srgbClr val="2F2F2C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꽃잎 크기 차이는 찾아오는 곤충의 </a:t>
            </a:r>
          </a:p>
          <a:p>
            <a:pPr algn="l">
              <a:lnSpc>
                <a:spcPts val="4049"/>
              </a:lnSpc>
            </a:pPr>
            <a:r>
              <a:rPr lang="en-US" sz="2453" b="true">
                <a:solidFill>
                  <a:srgbClr val="2F2F2C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몸집에 맞춘 생태적 적응의 흔적입니다.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64086" y="6755968"/>
            <a:ext cx="7098632" cy="43728"/>
          </a:xfrm>
          <a:custGeom>
            <a:avLst/>
            <a:gdLst/>
            <a:ahLst/>
            <a:cxnLst/>
            <a:rect r="r" b="b" t="t" l="l"/>
            <a:pathLst>
              <a:path h="43728" w="7098632">
                <a:moveTo>
                  <a:pt x="0" y="0"/>
                </a:moveTo>
                <a:lnTo>
                  <a:pt x="7098632" y="0"/>
                </a:lnTo>
                <a:lnTo>
                  <a:pt x="7098632" y="43728"/>
                </a:lnTo>
                <a:lnTo>
                  <a:pt x="0" y="437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081" t="-275000" r="-1386" b="-15000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64086" y="6985540"/>
            <a:ext cx="1192220" cy="1158791"/>
          </a:xfrm>
          <a:custGeom>
            <a:avLst/>
            <a:gdLst/>
            <a:ahLst/>
            <a:cxnLst/>
            <a:rect r="r" b="b" t="t" l="l"/>
            <a:pathLst>
              <a:path h="1158791" w="1192220">
                <a:moveTo>
                  <a:pt x="0" y="0"/>
                </a:moveTo>
                <a:lnTo>
                  <a:pt x="1192220" y="0"/>
                </a:lnTo>
                <a:lnTo>
                  <a:pt x="1192220" y="1158790"/>
                </a:lnTo>
                <a:lnTo>
                  <a:pt x="0" y="11587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8348" t="-11320" r="-11009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85551" y="7327837"/>
            <a:ext cx="531225" cy="49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5"/>
              </a:lnSpc>
            </a:pPr>
            <a:r>
              <a:rPr lang="en-US" sz="3254" b="true">
                <a:solidFill>
                  <a:srgbClr val="F6F5F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78260" y="7006181"/>
            <a:ext cx="4706838" cy="96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453" b="true">
                <a:solidFill>
                  <a:srgbClr val="2F2F2C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데이터 분석으로 눈으로는 헷갈렸던 </a:t>
            </a:r>
          </a:p>
          <a:p>
            <a:pPr algn="l">
              <a:lnSpc>
                <a:spcPts val="4049"/>
              </a:lnSpc>
            </a:pPr>
            <a:r>
              <a:rPr lang="en-US" sz="2453" b="true">
                <a:solidFill>
                  <a:srgbClr val="2F2F2C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꽃의 특징을 명확히 확인했습니다.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493818" y="8242718"/>
            <a:ext cx="5468900" cy="43728"/>
          </a:xfrm>
          <a:custGeom>
            <a:avLst/>
            <a:gdLst/>
            <a:ahLst/>
            <a:cxnLst/>
            <a:rect r="r" b="b" t="t" l="l"/>
            <a:pathLst>
              <a:path h="43728" w="5468900">
                <a:moveTo>
                  <a:pt x="0" y="0"/>
                </a:moveTo>
                <a:lnTo>
                  <a:pt x="5468900" y="0"/>
                </a:lnTo>
                <a:lnTo>
                  <a:pt x="5468900" y="43728"/>
                </a:lnTo>
                <a:lnTo>
                  <a:pt x="0" y="437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000" t="-250000" r="-1800" b="-17500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64086" y="8483222"/>
            <a:ext cx="1192220" cy="1158791"/>
          </a:xfrm>
          <a:custGeom>
            <a:avLst/>
            <a:gdLst/>
            <a:ahLst/>
            <a:cxnLst/>
            <a:rect r="r" b="b" t="t" l="l"/>
            <a:pathLst>
              <a:path h="1158791" w="1192220">
                <a:moveTo>
                  <a:pt x="0" y="0"/>
                </a:moveTo>
                <a:lnTo>
                  <a:pt x="1192220" y="0"/>
                </a:lnTo>
                <a:lnTo>
                  <a:pt x="1192220" y="1158791"/>
                </a:lnTo>
                <a:lnTo>
                  <a:pt x="0" y="115879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8348" t="-11320" r="-11009" b="-943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85551" y="8803800"/>
            <a:ext cx="531225" cy="49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5"/>
              </a:lnSpc>
            </a:pPr>
            <a:r>
              <a:rPr lang="en-US" sz="3254" b="true">
                <a:solidFill>
                  <a:srgbClr val="F6F5F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74594" y="8512265"/>
            <a:ext cx="5073459" cy="96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453" b="true">
                <a:solidFill>
                  <a:srgbClr val="2F2F2C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컴퓨터 알고리즘을 생물 관찰에 접목해 </a:t>
            </a:r>
          </a:p>
          <a:p>
            <a:pPr algn="l">
              <a:lnSpc>
                <a:spcPts val="4049"/>
              </a:lnSpc>
            </a:pPr>
            <a:r>
              <a:rPr lang="en-US" sz="2453" b="true">
                <a:solidFill>
                  <a:srgbClr val="2F2F2C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깊이 있는 탐구를 경험했습니다.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DAHZWJ69WtI</dc:identifier>
  <dcterms:modified xsi:type="dcterms:W3CDTF">2011-08-01T06:04:30Z</dcterms:modified>
  <cp:revision>1</cp:revision>
  <dc:title>붓꽃 종 분류 탐구</dc:title>
</cp:coreProperties>
</file>